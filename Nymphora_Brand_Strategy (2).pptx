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omments/modernComment_113_5D07D201.xml" ContentType="application/vnd.ms-powerpoint.comment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70" r:id="rId4"/>
    <p:sldId id="264" r:id="rId5"/>
    <p:sldId id="266" r:id="rId6"/>
    <p:sldId id="263" r:id="rId7"/>
    <p:sldId id="267" r:id="rId8"/>
    <p:sldId id="260" r:id="rId9"/>
    <p:sldId id="271" r:id="rId10"/>
    <p:sldId id="274" r:id="rId11"/>
    <p:sldId id="273" r:id="rId12"/>
    <p:sldId id="275" r:id="rId13"/>
    <p:sldId id="279" r:id="rId14"/>
    <p:sldId id="284" r:id="rId15"/>
    <p:sldId id="285" r:id="rId16"/>
    <p:sldId id="280" r:id="rId17"/>
    <p:sldId id="286" r:id="rId18"/>
    <p:sldId id="283" r:id="rId19"/>
    <p:sldId id="289" r:id="rId20"/>
    <p:sldId id="290" r:id="rId21"/>
    <p:sldId id="291" r:id="rId22"/>
    <p:sldId id="292" r:id="rId23"/>
    <p:sldId id="293" r:id="rId24"/>
    <p:sldId id="269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85AC976-F4AA-9975-9C41-9D33E76A8494}" name="kritika choubey" initials="kc" userId="a4ca0a83840e8506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BE3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>
        <p:scale>
          <a:sx n="75" d="100"/>
          <a:sy n="75" d="100"/>
        </p:scale>
        <p:origin x="67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8/10/relationships/authors" Target="authors.xml"/></Relationships>
</file>

<file path=ppt/comments/modernComment_113_5D07D201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D9DA0849-C6C3-4044-85AC-2879C93CFAC2}" authorId="{285AC976-F4AA-9975-9C41-9D33E76A8494}" created="2026-03-11T17:59:24.845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560793601" sldId="275"/>
      <ac:picMk id="16" creationId="{FEC525B0-CADC-0E40-24F6-8696BB617FFC}"/>
    </ac:deMkLst>
    <p188:txBody>
      <a:bodyPr/>
      <a:lstStyle/>
      <a:p>
        <a:r>
          <a:rPr lang="en-US"/>
          <a:t>https://nymphora-delicate-grace.lovable.app/</a:t>
        </a:r>
      </a:p>
    </p188:txBody>
  </p188:cm>
</p188:cmLst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875A161-B1B7-45AB-B53D-9416BDF854E4}" type="doc">
      <dgm:prSet loTypeId="urn:microsoft.com/office/officeart/2005/8/layout/chevron2" loCatId="process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en-US"/>
        </a:p>
      </dgm:t>
    </dgm:pt>
    <dgm:pt modelId="{ABDCC54F-75A2-4FF6-B789-22D9AF825130}">
      <dgm:prSet phldrT="[Text]" phldr="0"/>
      <dgm:spPr/>
      <dgm:t>
        <a:bodyPr/>
        <a:lstStyle/>
        <a:p>
          <a:pPr rtl="0"/>
          <a:r>
            <a:rPr lang="en-US" dirty="0">
              <a:latin typeface="Times New Roman"/>
              <a:cs typeface="Times New Roman"/>
            </a:rPr>
            <a:t> Creating sense of urgency- having dainty jewelry in vanity is ESSENTIAL for 2026 fashion</a:t>
          </a:r>
        </a:p>
      </dgm:t>
    </dgm:pt>
    <dgm:pt modelId="{8781BA91-4B97-48A1-8672-46BB0D3A0010}" type="parTrans" cxnId="{03F96ECA-E3F0-4F34-BCCC-B90A29787156}">
      <dgm:prSet/>
      <dgm:spPr/>
      <dgm:t>
        <a:bodyPr/>
        <a:lstStyle/>
        <a:p>
          <a:endParaRPr lang="en-US"/>
        </a:p>
      </dgm:t>
    </dgm:pt>
    <dgm:pt modelId="{B4A3E271-152A-46B2-A678-F26B3E085C0E}" type="sibTrans" cxnId="{03F96ECA-E3F0-4F34-BCCC-B90A29787156}">
      <dgm:prSet/>
      <dgm:spPr/>
      <dgm:t>
        <a:bodyPr/>
        <a:lstStyle/>
        <a:p>
          <a:endParaRPr lang="en-US"/>
        </a:p>
      </dgm:t>
    </dgm:pt>
    <dgm:pt modelId="{83AB76BA-47CE-40B4-AD6F-C890B0AD1256}">
      <dgm:prSet phldrT="[Text]" phldr="0" custT="1"/>
      <dgm:spPr/>
      <dgm:t>
        <a:bodyPr/>
        <a:lstStyle/>
        <a:p>
          <a:pPr rtl="0"/>
          <a:r>
            <a:rPr lang="en-US" sz="2000" b="0" dirty="0">
              <a:latin typeface="Times New Roman"/>
              <a:cs typeface="Times New Roman"/>
            </a:rPr>
            <a:t> </a:t>
          </a:r>
          <a:r>
            <a:rPr lang="en-US" sz="2000" b="1" dirty="0">
              <a:latin typeface="Times New Roman"/>
              <a:cs typeface="Times New Roman"/>
            </a:rPr>
            <a:t>MOFU-</a:t>
          </a:r>
          <a:r>
            <a:rPr lang="en-US" sz="1800" b="1" dirty="0">
              <a:latin typeface="Times New Roman"/>
              <a:cs typeface="Times New Roman"/>
            </a:rPr>
            <a:t> </a:t>
          </a:r>
          <a:r>
            <a:rPr lang="en-US" sz="1700" b="1" dirty="0">
              <a:latin typeface="Times New Roman"/>
              <a:cs typeface="Times New Roman"/>
            </a:rPr>
            <a:t>consideration</a:t>
          </a:r>
        </a:p>
      </dgm:t>
    </dgm:pt>
    <dgm:pt modelId="{0DE1F8DC-4988-429F-950B-FF419079A1F0}" type="parTrans" cxnId="{2B347AA6-8314-48FF-8D87-C7A6EFA0ED0F}">
      <dgm:prSet/>
      <dgm:spPr/>
      <dgm:t>
        <a:bodyPr/>
        <a:lstStyle/>
        <a:p>
          <a:endParaRPr lang="en-US"/>
        </a:p>
      </dgm:t>
    </dgm:pt>
    <dgm:pt modelId="{BBBA9C23-8DD7-48F9-9E2D-929F2CEA4D85}" type="sibTrans" cxnId="{2B347AA6-8314-48FF-8D87-C7A6EFA0ED0F}">
      <dgm:prSet/>
      <dgm:spPr/>
      <dgm:t>
        <a:bodyPr/>
        <a:lstStyle/>
        <a:p>
          <a:endParaRPr lang="en-US"/>
        </a:p>
      </dgm:t>
    </dgm:pt>
    <dgm:pt modelId="{07BC2AF6-B3AF-4A88-A06F-95E7BCD01F6E}">
      <dgm:prSet phldrT="[Text]" phldr="0"/>
      <dgm:spPr/>
      <dgm:t>
        <a:bodyPr/>
        <a:lstStyle/>
        <a:p>
          <a:pPr rtl="0"/>
          <a:r>
            <a:rPr lang="en-US" b="1" dirty="0">
              <a:latin typeface="Times New Roman"/>
              <a:cs typeface="Times New Roman"/>
            </a:rPr>
            <a:t> Objective:</a:t>
          </a:r>
          <a:r>
            <a:rPr lang="en-US" dirty="0">
              <a:latin typeface="Times New Roman"/>
              <a:cs typeface="Times New Roman"/>
            </a:rPr>
            <a:t> Help customers understand how Nymphora fits into daily style.</a:t>
          </a:r>
        </a:p>
      </dgm:t>
    </dgm:pt>
    <dgm:pt modelId="{6436E4B6-C81F-48F9-88EC-102EA774E09B}" type="parTrans" cxnId="{FE49582F-E08A-4DB0-A92B-46144BB142DD}">
      <dgm:prSet/>
      <dgm:spPr/>
      <dgm:t>
        <a:bodyPr/>
        <a:lstStyle/>
        <a:p>
          <a:endParaRPr lang="en-US"/>
        </a:p>
      </dgm:t>
    </dgm:pt>
    <dgm:pt modelId="{C155DA8A-685B-4993-A839-CA44190573B3}" type="sibTrans" cxnId="{FE49582F-E08A-4DB0-A92B-46144BB142DD}">
      <dgm:prSet/>
      <dgm:spPr/>
      <dgm:t>
        <a:bodyPr/>
        <a:lstStyle/>
        <a:p>
          <a:endParaRPr lang="en-US"/>
        </a:p>
      </dgm:t>
    </dgm:pt>
    <dgm:pt modelId="{1BBD26F7-70C8-4C94-852D-23F692BE9D04}">
      <dgm:prSet phldrT="[Text]" phldr="0"/>
      <dgm:spPr/>
      <dgm:t>
        <a:bodyPr/>
        <a:lstStyle/>
        <a:p>
          <a:pPr rtl="0"/>
          <a:r>
            <a:rPr lang="en-US" dirty="0">
              <a:latin typeface="Times New Roman"/>
              <a:cs typeface="Times New Roman"/>
            </a:rPr>
            <a:t> Browsable catalogs, lookbooks, &amp; style guide that allow slow, intentional decision making</a:t>
          </a:r>
        </a:p>
      </dgm:t>
    </dgm:pt>
    <dgm:pt modelId="{58EE0FB1-9882-48C7-8B81-A7B56F028A10}" type="parTrans" cxnId="{60B64ECD-DE0F-465E-B452-59A1E6BFE282}">
      <dgm:prSet/>
      <dgm:spPr/>
      <dgm:t>
        <a:bodyPr/>
        <a:lstStyle/>
        <a:p>
          <a:endParaRPr lang="en-US"/>
        </a:p>
      </dgm:t>
    </dgm:pt>
    <dgm:pt modelId="{6A6FB982-C94A-41A7-A8B8-684B364CF302}" type="sibTrans" cxnId="{60B64ECD-DE0F-465E-B452-59A1E6BFE282}">
      <dgm:prSet/>
      <dgm:spPr/>
      <dgm:t>
        <a:bodyPr/>
        <a:lstStyle/>
        <a:p>
          <a:endParaRPr lang="en-US"/>
        </a:p>
      </dgm:t>
    </dgm:pt>
    <dgm:pt modelId="{4D813BE6-23F0-46D4-8B1E-6B26A0506E98}">
      <dgm:prSet phldrT="[Text]" phldr="0" custT="1"/>
      <dgm:spPr/>
      <dgm:t>
        <a:bodyPr/>
        <a:lstStyle/>
        <a:p>
          <a:pPr rtl="0"/>
          <a:r>
            <a:rPr lang="en-US" sz="2000" b="1" dirty="0">
              <a:latin typeface="Times New Roman"/>
              <a:cs typeface="Times New Roman"/>
            </a:rPr>
            <a:t>BOFU- conversion</a:t>
          </a:r>
        </a:p>
      </dgm:t>
    </dgm:pt>
    <dgm:pt modelId="{35FE0BF2-853F-4916-B61D-C18E9DFD952A}" type="parTrans" cxnId="{058C05D3-EC9E-46F7-9ED8-4215F024977B}">
      <dgm:prSet/>
      <dgm:spPr/>
      <dgm:t>
        <a:bodyPr/>
        <a:lstStyle/>
        <a:p>
          <a:endParaRPr lang="en-US"/>
        </a:p>
      </dgm:t>
    </dgm:pt>
    <dgm:pt modelId="{D1487E94-B86C-4DC5-B09B-BAC1281030E9}" type="sibTrans" cxnId="{058C05D3-EC9E-46F7-9ED8-4215F024977B}">
      <dgm:prSet/>
      <dgm:spPr/>
      <dgm:t>
        <a:bodyPr/>
        <a:lstStyle/>
        <a:p>
          <a:endParaRPr lang="en-US"/>
        </a:p>
      </dgm:t>
    </dgm:pt>
    <dgm:pt modelId="{8B669CC8-D7EF-404F-90F3-7DEB0B2D88D6}">
      <dgm:prSet phldrT="[Text]" phldr="0"/>
      <dgm:spPr/>
      <dgm:t>
        <a:bodyPr/>
        <a:lstStyle/>
        <a:p>
          <a:pPr rtl="0"/>
          <a:r>
            <a:rPr lang="en-US" b="1" dirty="0">
              <a:latin typeface="Times New Roman"/>
              <a:cs typeface="Times New Roman"/>
            </a:rPr>
            <a:t> Objective:</a:t>
          </a:r>
          <a:r>
            <a:rPr lang="en-US" dirty="0">
              <a:latin typeface="Times New Roman"/>
              <a:cs typeface="Times New Roman"/>
            </a:rPr>
            <a:t> Encourage customers to make their first purchase.</a:t>
          </a:r>
        </a:p>
      </dgm:t>
    </dgm:pt>
    <dgm:pt modelId="{B854E83F-C219-4286-A2AD-B7B35F91C15D}" type="parTrans" cxnId="{26EEC8F9-E03E-4C76-B22F-B81C310E2CD4}">
      <dgm:prSet/>
      <dgm:spPr/>
      <dgm:t>
        <a:bodyPr/>
        <a:lstStyle/>
        <a:p>
          <a:endParaRPr lang="en-US"/>
        </a:p>
      </dgm:t>
    </dgm:pt>
    <dgm:pt modelId="{1936BDC7-C498-432E-92B3-EE277A3F147C}" type="sibTrans" cxnId="{26EEC8F9-E03E-4C76-B22F-B81C310E2CD4}">
      <dgm:prSet/>
      <dgm:spPr/>
      <dgm:t>
        <a:bodyPr/>
        <a:lstStyle/>
        <a:p>
          <a:endParaRPr lang="en-US"/>
        </a:p>
      </dgm:t>
    </dgm:pt>
    <dgm:pt modelId="{3013D26C-3D01-47D5-BAE8-5FF232483AA7}">
      <dgm:prSet phldrT="[Text]" phldr="0"/>
      <dgm:spPr/>
      <dgm:t>
        <a:bodyPr/>
        <a:lstStyle/>
        <a:p>
          <a:pPr rtl="0"/>
          <a:r>
            <a:rPr lang="en-US" dirty="0">
              <a:latin typeface="Times New Roman"/>
              <a:cs typeface="Times New Roman"/>
            </a:rPr>
            <a:t> Subtle prompts around gifting &amp; personal milestones to encourage purchase without urgency pressure</a:t>
          </a:r>
        </a:p>
      </dgm:t>
    </dgm:pt>
    <dgm:pt modelId="{095108D3-247C-4813-9638-928D4CC78787}" type="parTrans" cxnId="{3C63775E-0BF2-4B7E-B2B5-91FDA71949F5}">
      <dgm:prSet/>
      <dgm:spPr/>
      <dgm:t>
        <a:bodyPr/>
        <a:lstStyle/>
        <a:p>
          <a:endParaRPr lang="en-US"/>
        </a:p>
      </dgm:t>
    </dgm:pt>
    <dgm:pt modelId="{B70E7A09-B320-4404-B090-1D69BC1254F2}" type="sibTrans" cxnId="{3C63775E-0BF2-4B7E-B2B5-91FDA71949F5}">
      <dgm:prSet/>
      <dgm:spPr/>
      <dgm:t>
        <a:bodyPr/>
        <a:lstStyle/>
        <a:p>
          <a:endParaRPr lang="en-US"/>
        </a:p>
      </dgm:t>
    </dgm:pt>
    <dgm:pt modelId="{2677DDD3-1B8B-499B-B3A2-041FA2C62F51}">
      <dgm:prSet phldr="0" custT="1"/>
      <dgm:spPr/>
      <dgm:t>
        <a:bodyPr/>
        <a:lstStyle/>
        <a:p>
          <a:pPr rtl="0"/>
          <a:r>
            <a:rPr lang="en-US" sz="2000" b="1" dirty="0">
              <a:latin typeface="Times New Roman"/>
              <a:cs typeface="Times New Roman"/>
            </a:rPr>
            <a:t>TOFU- awareness</a:t>
          </a:r>
        </a:p>
      </dgm:t>
    </dgm:pt>
    <dgm:pt modelId="{A0BC9C63-F405-462B-980B-102FD2942DB1}" type="parTrans" cxnId="{E8FDC787-A4D9-447F-9318-25500F4ECD38}">
      <dgm:prSet/>
      <dgm:spPr/>
      <dgm:t>
        <a:bodyPr/>
        <a:lstStyle/>
        <a:p>
          <a:endParaRPr lang="en-IN"/>
        </a:p>
      </dgm:t>
    </dgm:pt>
    <dgm:pt modelId="{F411B6DA-B1E1-4E89-BE46-221A287B6752}" type="sibTrans" cxnId="{E8FDC787-A4D9-447F-9318-25500F4ECD38}">
      <dgm:prSet/>
      <dgm:spPr/>
      <dgm:t>
        <a:bodyPr/>
        <a:lstStyle/>
        <a:p>
          <a:endParaRPr lang="en-IN"/>
        </a:p>
      </dgm:t>
    </dgm:pt>
    <dgm:pt modelId="{86F43620-C14F-415D-942F-1EAC5BF9DB73}">
      <dgm:prSet phldr="0"/>
      <dgm:spPr/>
      <dgm:t>
        <a:bodyPr/>
        <a:lstStyle/>
        <a:p>
          <a:pPr algn="l" rtl="0"/>
          <a:r>
            <a:rPr lang="en-US" sz="1800" b="1" dirty="0">
              <a:latin typeface="Times New Roman"/>
              <a:cs typeface="Times New Roman"/>
            </a:rPr>
            <a:t> Objective:</a:t>
          </a:r>
          <a:r>
            <a:rPr lang="en-US" sz="1800" b="0" dirty="0">
              <a:latin typeface="Times New Roman"/>
              <a:cs typeface="Times New Roman"/>
            </a:rPr>
            <a:t> Introduce Nymphora as an everyday minimalist jewelry brand.</a:t>
          </a:r>
        </a:p>
      </dgm:t>
    </dgm:pt>
    <dgm:pt modelId="{889490AD-AF49-492A-9C42-955D437358CB}" type="parTrans" cxnId="{4F91C094-99BD-4181-96EE-26C42DEE4B8D}">
      <dgm:prSet/>
      <dgm:spPr/>
      <dgm:t>
        <a:bodyPr/>
        <a:lstStyle/>
        <a:p>
          <a:endParaRPr lang="en-IN"/>
        </a:p>
      </dgm:t>
    </dgm:pt>
    <dgm:pt modelId="{1E830E89-3CA3-4A08-B5C3-69397C19C04C}" type="sibTrans" cxnId="{4F91C094-99BD-4181-96EE-26C42DEE4B8D}">
      <dgm:prSet/>
      <dgm:spPr/>
      <dgm:t>
        <a:bodyPr/>
        <a:lstStyle/>
        <a:p>
          <a:endParaRPr lang="en-IN"/>
        </a:p>
      </dgm:t>
    </dgm:pt>
    <dgm:pt modelId="{19B53FCA-907F-4BA3-B0C8-B6F7877E72D7}">
      <dgm:prSet phldr="0"/>
      <dgm:spPr/>
      <dgm:t>
        <a:bodyPr/>
        <a:lstStyle/>
        <a:p>
          <a:pPr algn="l" rtl="0"/>
          <a:r>
            <a:rPr lang="en-US" sz="1100" dirty="0">
              <a:latin typeface="Times New Roman"/>
              <a:ea typeface="Calibri"/>
              <a:cs typeface="Times New Roman"/>
            </a:rPr>
            <a:t> Promoting everyday styling with dainty jewelry through subconscious attempt at creating GRWM type content</a:t>
          </a:r>
          <a:endParaRPr lang="en-US" dirty="0">
            <a:latin typeface="Times New Roman"/>
            <a:cs typeface="Times New Roman"/>
          </a:endParaRPr>
        </a:p>
      </dgm:t>
    </dgm:pt>
    <dgm:pt modelId="{31AD5460-2F0E-4303-A54D-D889F80292B6}" type="parTrans" cxnId="{1FB2E2DC-8153-40E7-B68B-0E570DE211AB}">
      <dgm:prSet/>
      <dgm:spPr/>
      <dgm:t>
        <a:bodyPr/>
        <a:lstStyle/>
        <a:p>
          <a:endParaRPr lang="en-IN"/>
        </a:p>
      </dgm:t>
    </dgm:pt>
    <dgm:pt modelId="{F3F85DD4-694F-45F4-A316-A25682D2007A}" type="sibTrans" cxnId="{1FB2E2DC-8153-40E7-B68B-0E570DE211AB}">
      <dgm:prSet/>
      <dgm:spPr/>
      <dgm:t>
        <a:bodyPr/>
        <a:lstStyle/>
        <a:p>
          <a:endParaRPr lang="en-IN"/>
        </a:p>
      </dgm:t>
    </dgm:pt>
    <dgm:pt modelId="{0036133E-1E94-4D74-A4F3-295C8219A8C6}">
      <dgm:prSet phldr="0"/>
      <dgm:spPr/>
      <dgm:t>
        <a:bodyPr/>
        <a:lstStyle/>
        <a:p>
          <a:pPr rtl="0"/>
          <a:r>
            <a:rPr lang="en-US" sz="1100" dirty="0">
              <a:latin typeface="Times New Roman"/>
              <a:ea typeface="Calibri"/>
              <a:cs typeface="Times New Roman"/>
            </a:rPr>
            <a:t> How minimalist jewelry elevates everyday basics</a:t>
          </a:r>
          <a:endParaRPr lang="en-US" dirty="0">
            <a:latin typeface="Times New Roman"/>
            <a:cs typeface="Times New Roman"/>
          </a:endParaRPr>
        </a:p>
      </dgm:t>
    </dgm:pt>
    <dgm:pt modelId="{F5B322CE-6227-4C40-BDBF-C90258FD2905}" type="parTrans" cxnId="{9E2721E4-8336-4AA9-AE41-A403A4B796EF}">
      <dgm:prSet/>
      <dgm:spPr/>
      <dgm:t>
        <a:bodyPr/>
        <a:lstStyle/>
        <a:p>
          <a:endParaRPr lang="en-IN"/>
        </a:p>
      </dgm:t>
    </dgm:pt>
    <dgm:pt modelId="{5634AB6E-E7B0-42EE-AAED-08C8E00AA890}" type="sibTrans" cxnId="{9E2721E4-8336-4AA9-AE41-A403A4B796EF}">
      <dgm:prSet/>
      <dgm:spPr/>
      <dgm:t>
        <a:bodyPr/>
        <a:lstStyle/>
        <a:p>
          <a:endParaRPr lang="en-IN"/>
        </a:p>
      </dgm:t>
    </dgm:pt>
    <dgm:pt modelId="{BA2FAEC9-7A82-4A97-A81F-72BAC11195B0}">
      <dgm:prSet phldr="0"/>
      <dgm:spPr/>
      <dgm:t>
        <a:bodyPr/>
        <a:lstStyle/>
        <a:p>
          <a:pPr rtl="0"/>
          <a:r>
            <a:rPr lang="en-US" sz="1100" dirty="0">
              <a:solidFill>
                <a:srgbClr val="444444"/>
              </a:solidFill>
              <a:latin typeface="Times New Roman"/>
              <a:ea typeface="Calibri"/>
              <a:cs typeface="Times New Roman"/>
            </a:rPr>
            <a:t> </a:t>
          </a:r>
          <a:r>
            <a:rPr lang="en-US" sz="1100" dirty="0">
              <a:solidFill>
                <a:schemeClr val="tx1"/>
              </a:solidFill>
              <a:latin typeface="Times New Roman"/>
              <a:ea typeface="Calibri"/>
              <a:cs typeface="Times New Roman"/>
            </a:rPr>
            <a:t>Aesthetic website with specific color patterns,, intuitive product positioning &amp; enhanced display for seamless first-time shopping experience.</a:t>
          </a:r>
        </a:p>
      </dgm:t>
    </dgm:pt>
    <dgm:pt modelId="{FC61523E-AA0D-44E2-AF42-B290F23526E6}" type="parTrans" cxnId="{36FDB392-63E7-4199-973E-8DB678269101}">
      <dgm:prSet/>
      <dgm:spPr/>
      <dgm:t>
        <a:bodyPr/>
        <a:lstStyle/>
        <a:p>
          <a:endParaRPr lang="en-IN"/>
        </a:p>
      </dgm:t>
    </dgm:pt>
    <dgm:pt modelId="{C301D463-35B6-4F37-A324-98FA6CDACBB1}" type="sibTrans" cxnId="{36FDB392-63E7-4199-973E-8DB678269101}">
      <dgm:prSet/>
      <dgm:spPr/>
      <dgm:t>
        <a:bodyPr/>
        <a:lstStyle/>
        <a:p>
          <a:endParaRPr lang="en-IN"/>
        </a:p>
      </dgm:t>
    </dgm:pt>
    <dgm:pt modelId="{4784F47F-904F-4071-B763-DB244569C982}" type="pres">
      <dgm:prSet presAssocID="{7875A161-B1B7-45AB-B53D-9416BDF854E4}" presName="linearFlow" presStyleCnt="0">
        <dgm:presLayoutVars>
          <dgm:dir/>
          <dgm:animLvl val="lvl"/>
          <dgm:resizeHandles val="exact"/>
        </dgm:presLayoutVars>
      </dgm:prSet>
      <dgm:spPr/>
    </dgm:pt>
    <dgm:pt modelId="{CB7DC595-F144-4E13-B27A-1E668B50A5C2}" type="pres">
      <dgm:prSet presAssocID="{2677DDD3-1B8B-499B-B3A2-041FA2C62F51}" presName="composite" presStyleCnt="0"/>
      <dgm:spPr/>
    </dgm:pt>
    <dgm:pt modelId="{D71AB4EE-20F6-427F-BDED-85E8F0F2BA2D}" type="pres">
      <dgm:prSet presAssocID="{2677DDD3-1B8B-499B-B3A2-041FA2C62F51}" presName="parentText" presStyleLbl="alignNode1" presStyleIdx="0" presStyleCnt="3">
        <dgm:presLayoutVars>
          <dgm:chMax val="1"/>
          <dgm:bulletEnabled val="1"/>
        </dgm:presLayoutVars>
      </dgm:prSet>
      <dgm:spPr/>
    </dgm:pt>
    <dgm:pt modelId="{1589680F-993E-4A4F-89CF-FF1190386563}" type="pres">
      <dgm:prSet presAssocID="{2677DDD3-1B8B-499B-B3A2-041FA2C62F51}" presName="descendantText" presStyleLbl="alignAcc1" presStyleIdx="0" presStyleCnt="3">
        <dgm:presLayoutVars>
          <dgm:bulletEnabled val="1"/>
        </dgm:presLayoutVars>
      </dgm:prSet>
      <dgm:spPr/>
    </dgm:pt>
    <dgm:pt modelId="{3FDBAFD8-07DA-44D6-B7FC-2A8A4F6DFAE4}" type="pres">
      <dgm:prSet presAssocID="{F411B6DA-B1E1-4E89-BE46-221A287B6752}" presName="sp" presStyleCnt="0"/>
      <dgm:spPr/>
    </dgm:pt>
    <dgm:pt modelId="{B44DA89D-A63F-4020-9B63-F71DC5121E62}" type="pres">
      <dgm:prSet presAssocID="{83AB76BA-47CE-40B4-AD6F-C890B0AD1256}" presName="composite" presStyleCnt="0"/>
      <dgm:spPr/>
    </dgm:pt>
    <dgm:pt modelId="{C6128FC3-7F18-4C9B-A57B-DCC42E346DE8}" type="pres">
      <dgm:prSet presAssocID="{83AB76BA-47CE-40B4-AD6F-C890B0AD1256}" presName="parentText" presStyleLbl="alignNode1" presStyleIdx="1" presStyleCnt="3">
        <dgm:presLayoutVars>
          <dgm:chMax val="1"/>
          <dgm:bulletEnabled val="1"/>
        </dgm:presLayoutVars>
      </dgm:prSet>
      <dgm:spPr/>
    </dgm:pt>
    <dgm:pt modelId="{BBA1351F-A83C-4C31-8F9E-C1D5355C8AD1}" type="pres">
      <dgm:prSet presAssocID="{83AB76BA-47CE-40B4-AD6F-C890B0AD1256}" presName="descendantText" presStyleLbl="alignAcc1" presStyleIdx="1" presStyleCnt="3">
        <dgm:presLayoutVars>
          <dgm:bulletEnabled val="1"/>
        </dgm:presLayoutVars>
      </dgm:prSet>
      <dgm:spPr/>
    </dgm:pt>
    <dgm:pt modelId="{CFCEE182-C6EE-429F-AEC9-30C3362FBF03}" type="pres">
      <dgm:prSet presAssocID="{BBBA9C23-8DD7-48F9-9E2D-929F2CEA4D85}" presName="sp" presStyleCnt="0"/>
      <dgm:spPr/>
    </dgm:pt>
    <dgm:pt modelId="{172A6D2F-E468-440F-AB2D-841712BF2FD2}" type="pres">
      <dgm:prSet presAssocID="{4D813BE6-23F0-46D4-8B1E-6B26A0506E98}" presName="composite" presStyleCnt="0"/>
      <dgm:spPr/>
    </dgm:pt>
    <dgm:pt modelId="{F59A6ECE-3733-44D5-B565-5532EBD8C997}" type="pres">
      <dgm:prSet presAssocID="{4D813BE6-23F0-46D4-8B1E-6B26A0506E98}" presName="parentText" presStyleLbl="alignNode1" presStyleIdx="2" presStyleCnt="3">
        <dgm:presLayoutVars>
          <dgm:chMax val="1"/>
          <dgm:bulletEnabled val="1"/>
        </dgm:presLayoutVars>
      </dgm:prSet>
      <dgm:spPr/>
    </dgm:pt>
    <dgm:pt modelId="{2C80A345-BC94-4119-9929-52CFC0B10EDD}" type="pres">
      <dgm:prSet presAssocID="{4D813BE6-23F0-46D4-8B1E-6B26A0506E98}" presName="descendantText" presStyleLbl="alignAcc1" presStyleIdx="2" presStyleCnt="3">
        <dgm:presLayoutVars>
          <dgm:bulletEnabled val="1"/>
        </dgm:presLayoutVars>
      </dgm:prSet>
      <dgm:spPr/>
    </dgm:pt>
  </dgm:ptLst>
  <dgm:cxnLst>
    <dgm:cxn modelId="{5C6E0721-B534-4F86-9F73-A1C117FE1282}" type="presOf" srcId="{7875A161-B1B7-45AB-B53D-9416BDF854E4}" destId="{4784F47F-904F-4071-B763-DB244569C982}" srcOrd="0" destOrd="0" presId="urn:microsoft.com/office/officeart/2005/8/layout/chevron2"/>
    <dgm:cxn modelId="{FE49582F-E08A-4DB0-A92B-46144BB142DD}" srcId="{83AB76BA-47CE-40B4-AD6F-C890B0AD1256}" destId="{07BC2AF6-B3AF-4A88-A06F-95E7BCD01F6E}" srcOrd="0" destOrd="0" parTransId="{6436E4B6-C81F-48F9-88EC-102EA774E09B}" sibTransId="{C155DA8A-685B-4993-A839-CA44190573B3}"/>
    <dgm:cxn modelId="{08DD6D37-376F-40B8-B8EF-0584859A8C0F}" type="presOf" srcId="{86F43620-C14F-415D-942F-1EAC5BF9DB73}" destId="{1589680F-993E-4A4F-89CF-FF1190386563}" srcOrd="0" destOrd="0" presId="urn:microsoft.com/office/officeart/2005/8/layout/chevron2"/>
    <dgm:cxn modelId="{3C63775E-0BF2-4B7E-B2B5-91FDA71949F5}" srcId="{4D813BE6-23F0-46D4-8B1E-6B26A0506E98}" destId="{3013D26C-3D01-47D5-BAE8-5FF232483AA7}" srcOrd="2" destOrd="0" parTransId="{095108D3-247C-4813-9638-928D4CC78787}" sibTransId="{B70E7A09-B320-4404-B090-1D69BC1254F2}"/>
    <dgm:cxn modelId="{C473915F-428A-4969-8DD1-08FAC5FA9CC4}" type="presOf" srcId="{3013D26C-3D01-47D5-BAE8-5FF232483AA7}" destId="{2C80A345-BC94-4119-9929-52CFC0B10EDD}" srcOrd="0" destOrd="2" presId="urn:microsoft.com/office/officeart/2005/8/layout/chevron2"/>
    <dgm:cxn modelId="{446B8F64-08AF-45EF-8EC4-AF6A2BFC1E13}" type="presOf" srcId="{ABDCC54F-75A2-4FF6-B789-22D9AF825130}" destId="{1589680F-993E-4A4F-89CF-FF1190386563}" srcOrd="0" destOrd="2" presId="urn:microsoft.com/office/officeart/2005/8/layout/chevron2"/>
    <dgm:cxn modelId="{502C9149-BE20-4C89-B9FA-AB8EC6173DB8}" type="presOf" srcId="{19B53FCA-907F-4BA3-B0C8-B6F7877E72D7}" destId="{1589680F-993E-4A4F-89CF-FF1190386563}" srcOrd="0" destOrd="1" presId="urn:microsoft.com/office/officeart/2005/8/layout/chevron2"/>
    <dgm:cxn modelId="{3FCD8B53-F0BC-47F3-BBE4-8E02977E0B6F}" type="presOf" srcId="{83AB76BA-47CE-40B4-AD6F-C890B0AD1256}" destId="{C6128FC3-7F18-4C9B-A57B-DCC42E346DE8}" srcOrd="0" destOrd="0" presId="urn:microsoft.com/office/officeart/2005/8/layout/chevron2"/>
    <dgm:cxn modelId="{BAEE9381-0139-4834-9212-4E14487F0684}" type="presOf" srcId="{1BBD26F7-70C8-4C94-852D-23F692BE9D04}" destId="{BBA1351F-A83C-4C31-8F9E-C1D5355C8AD1}" srcOrd="0" destOrd="2" presId="urn:microsoft.com/office/officeart/2005/8/layout/chevron2"/>
    <dgm:cxn modelId="{1BE4AF86-134A-4F58-BE39-1E313E4BFFBC}" type="presOf" srcId="{07BC2AF6-B3AF-4A88-A06F-95E7BCD01F6E}" destId="{BBA1351F-A83C-4C31-8F9E-C1D5355C8AD1}" srcOrd="0" destOrd="0" presId="urn:microsoft.com/office/officeart/2005/8/layout/chevron2"/>
    <dgm:cxn modelId="{E8FDC787-A4D9-447F-9318-25500F4ECD38}" srcId="{7875A161-B1B7-45AB-B53D-9416BDF854E4}" destId="{2677DDD3-1B8B-499B-B3A2-041FA2C62F51}" srcOrd="0" destOrd="0" parTransId="{A0BC9C63-F405-462B-980B-102FD2942DB1}" sibTransId="{F411B6DA-B1E1-4E89-BE46-221A287B6752}"/>
    <dgm:cxn modelId="{36FDB392-63E7-4199-973E-8DB678269101}" srcId="{4D813BE6-23F0-46D4-8B1E-6B26A0506E98}" destId="{BA2FAEC9-7A82-4A97-A81F-72BAC11195B0}" srcOrd="1" destOrd="0" parTransId="{FC61523E-AA0D-44E2-AF42-B290F23526E6}" sibTransId="{C301D463-35B6-4F37-A324-98FA6CDACBB1}"/>
    <dgm:cxn modelId="{4F91C094-99BD-4181-96EE-26C42DEE4B8D}" srcId="{2677DDD3-1B8B-499B-B3A2-041FA2C62F51}" destId="{86F43620-C14F-415D-942F-1EAC5BF9DB73}" srcOrd="0" destOrd="0" parTransId="{889490AD-AF49-492A-9C42-955D437358CB}" sibTransId="{1E830E89-3CA3-4A08-B5C3-69397C19C04C}"/>
    <dgm:cxn modelId="{2B347AA6-8314-48FF-8D87-C7A6EFA0ED0F}" srcId="{7875A161-B1B7-45AB-B53D-9416BDF854E4}" destId="{83AB76BA-47CE-40B4-AD6F-C890B0AD1256}" srcOrd="1" destOrd="0" parTransId="{0DE1F8DC-4988-429F-950B-FF419079A1F0}" sibTransId="{BBBA9C23-8DD7-48F9-9E2D-929F2CEA4D85}"/>
    <dgm:cxn modelId="{1FF4A4A8-B424-4B12-8053-209B240D330C}" type="presOf" srcId="{8B669CC8-D7EF-404F-90F3-7DEB0B2D88D6}" destId="{2C80A345-BC94-4119-9929-52CFC0B10EDD}" srcOrd="0" destOrd="0" presId="urn:microsoft.com/office/officeart/2005/8/layout/chevron2"/>
    <dgm:cxn modelId="{6FDFB2BE-0759-48C4-94AF-79F5DA0B5C60}" type="presOf" srcId="{BA2FAEC9-7A82-4A97-A81F-72BAC11195B0}" destId="{2C80A345-BC94-4119-9929-52CFC0B10EDD}" srcOrd="0" destOrd="1" presId="urn:microsoft.com/office/officeart/2005/8/layout/chevron2"/>
    <dgm:cxn modelId="{03F96ECA-E3F0-4F34-BCCC-B90A29787156}" srcId="{2677DDD3-1B8B-499B-B3A2-041FA2C62F51}" destId="{ABDCC54F-75A2-4FF6-B789-22D9AF825130}" srcOrd="2" destOrd="0" parTransId="{8781BA91-4B97-48A1-8672-46BB0D3A0010}" sibTransId="{B4A3E271-152A-46B2-A678-F26B3E085C0E}"/>
    <dgm:cxn modelId="{60B64ECD-DE0F-465E-B452-59A1E6BFE282}" srcId="{83AB76BA-47CE-40B4-AD6F-C890B0AD1256}" destId="{1BBD26F7-70C8-4C94-852D-23F692BE9D04}" srcOrd="2" destOrd="0" parTransId="{58EE0FB1-9882-48C7-8B81-A7B56F028A10}" sibTransId="{6A6FB982-C94A-41A7-A8B8-684B364CF302}"/>
    <dgm:cxn modelId="{058C05D3-EC9E-46F7-9ED8-4215F024977B}" srcId="{7875A161-B1B7-45AB-B53D-9416BDF854E4}" destId="{4D813BE6-23F0-46D4-8B1E-6B26A0506E98}" srcOrd="2" destOrd="0" parTransId="{35FE0BF2-853F-4916-B61D-C18E9DFD952A}" sibTransId="{D1487E94-B86C-4DC5-B09B-BAC1281030E9}"/>
    <dgm:cxn modelId="{CB1049D6-BA71-437C-A5E0-B33422AD3D9A}" type="presOf" srcId="{0036133E-1E94-4D74-A4F3-295C8219A8C6}" destId="{BBA1351F-A83C-4C31-8F9E-C1D5355C8AD1}" srcOrd="0" destOrd="1" presId="urn:microsoft.com/office/officeart/2005/8/layout/chevron2"/>
    <dgm:cxn modelId="{1FB2E2DC-8153-40E7-B68B-0E570DE211AB}" srcId="{2677DDD3-1B8B-499B-B3A2-041FA2C62F51}" destId="{19B53FCA-907F-4BA3-B0C8-B6F7877E72D7}" srcOrd="1" destOrd="0" parTransId="{31AD5460-2F0E-4303-A54D-D889F80292B6}" sibTransId="{F3F85DD4-694F-45F4-A316-A25682D2007A}"/>
    <dgm:cxn modelId="{9E2721E4-8336-4AA9-AE41-A403A4B796EF}" srcId="{83AB76BA-47CE-40B4-AD6F-C890B0AD1256}" destId="{0036133E-1E94-4D74-A4F3-295C8219A8C6}" srcOrd="1" destOrd="0" parTransId="{F5B322CE-6227-4C40-BDBF-C90258FD2905}" sibTransId="{5634AB6E-E7B0-42EE-AAED-08C8E00AA890}"/>
    <dgm:cxn modelId="{AC37B1E9-E815-4A0E-988E-0643AE0C9DF5}" type="presOf" srcId="{2677DDD3-1B8B-499B-B3A2-041FA2C62F51}" destId="{D71AB4EE-20F6-427F-BDED-85E8F0F2BA2D}" srcOrd="0" destOrd="0" presId="urn:microsoft.com/office/officeart/2005/8/layout/chevron2"/>
    <dgm:cxn modelId="{26EEC8F9-E03E-4C76-B22F-B81C310E2CD4}" srcId="{4D813BE6-23F0-46D4-8B1E-6B26A0506E98}" destId="{8B669CC8-D7EF-404F-90F3-7DEB0B2D88D6}" srcOrd="0" destOrd="0" parTransId="{B854E83F-C219-4286-A2AD-B7B35F91C15D}" sibTransId="{1936BDC7-C498-432E-92B3-EE277A3F147C}"/>
    <dgm:cxn modelId="{60FB2CFB-FB77-408E-BB89-C7ACB126CD7C}" type="presOf" srcId="{4D813BE6-23F0-46D4-8B1E-6B26A0506E98}" destId="{F59A6ECE-3733-44D5-B565-5532EBD8C997}" srcOrd="0" destOrd="0" presId="urn:microsoft.com/office/officeart/2005/8/layout/chevron2"/>
    <dgm:cxn modelId="{3118DAE6-47BD-4FE3-924C-74FCB5F076E4}" type="presParOf" srcId="{4784F47F-904F-4071-B763-DB244569C982}" destId="{CB7DC595-F144-4E13-B27A-1E668B50A5C2}" srcOrd="0" destOrd="0" presId="urn:microsoft.com/office/officeart/2005/8/layout/chevron2"/>
    <dgm:cxn modelId="{8CB37574-BD8A-423D-9F0F-23D7E8F08933}" type="presParOf" srcId="{CB7DC595-F144-4E13-B27A-1E668B50A5C2}" destId="{D71AB4EE-20F6-427F-BDED-85E8F0F2BA2D}" srcOrd="0" destOrd="0" presId="urn:microsoft.com/office/officeart/2005/8/layout/chevron2"/>
    <dgm:cxn modelId="{EFE9FD98-7822-4632-8DB6-3934C4E79184}" type="presParOf" srcId="{CB7DC595-F144-4E13-B27A-1E668B50A5C2}" destId="{1589680F-993E-4A4F-89CF-FF1190386563}" srcOrd="1" destOrd="0" presId="urn:microsoft.com/office/officeart/2005/8/layout/chevron2"/>
    <dgm:cxn modelId="{BE976323-2FF8-4E5B-9B31-49A82C217F4F}" type="presParOf" srcId="{4784F47F-904F-4071-B763-DB244569C982}" destId="{3FDBAFD8-07DA-44D6-B7FC-2A8A4F6DFAE4}" srcOrd="1" destOrd="0" presId="urn:microsoft.com/office/officeart/2005/8/layout/chevron2"/>
    <dgm:cxn modelId="{D5407234-688B-4F79-BD01-20D217B2EE39}" type="presParOf" srcId="{4784F47F-904F-4071-B763-DB244569C982}" destId="{B44DA89D-A63F-4020-9B63-F71DC5121E62}" srcOrd="2" destOrd="0" presId="urn:microsoft.com/office/officeart/2005/8/layout/chevron2"/>
    <dgm:cxn modelId="{A043F7CB-53FF-439B-BF4D-6668953F4705}" type="presParOf" srcId="{B44DA89D-A63F-4020-9B63-F71DC5121E62}" destId="{C6128FC3-7F18-4C9B-A57B-DCC42E346DE8}" srcOrd="0" destOrd="0" presId="urn:microsoft.com/office/officeart/2005/8/layout/chevron2"/>
    <dgm:cxn modelId="{4F7A02D8-20B3-43AE-8DFF-1E09638B9DC7}" type="presParOf" srcId="{B44DA89D-A63F-4020-9B63-F71DC5121E62}" destId="{BBA1351F-A83C-4C31-8F9E-C1D5355C8AD1}" srcOrd="1" destOrd="0" presId="urn:microsoft.com/office/officeart/2005/8/layout/chevron2"/>
    <dgm:cxn modelId="{7B2088F8-3FF1-4587-A702-B95FE3F44555}" type="presParOf" srcId="{4784F47F-904F-4071-B763-DB244569C982}" destId="{CFCEE182-C6EE-429F-AEC9-30C3362FBF03}" srcOrd="3" destOrd="0" presId="urn:microsoft.com/office/officeart/2005/8/layout/chevron2"/>
    <dgm:cxn modelId="{5161E3E8-9AA7-4D3F-A23C-90621CBF9991}" type="presParOf" srcId="{4784F47F-904F-4071-B763-DB244569C982}" destId="{172A6D2F-E468-440F-AB2D-841712BF2FD2}" srcOrd="4" destOrd="0" presId="urn:microsoft.com/office/officeart/2005/8/layout/chevron2"/>
    <dgm:cxn modelId="{3B6BBC43-04BE-4FAD-A95E-87CDDB71809E}" type="presParOf" srcId="{172A6D2F-E468-440F-AB2D-841712BF2FD2}" destId="{F59A6ECE-3733-44D5-B565-5532EBD8C997}" srcOrd="0" destOrd="0" presId="urn:microsoft.com/office/officeart/2005/8/layout/chevron2"/>
    <dgm:cxn modelId="{F184442A-F80D-4A4A-8586-6A6A13D66EAB}" type="presParOf" srcId="{172A6D2F-E468-440F-AB2D-841712BF2FD2}" destId="{2C80A345-BC94-4119-9929-52CFC0B10EDD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667723F-74DC-4A3E-8884-C6E249721688}" type="doc">
      <dgm:prSet loTypeId="urn:microsoft.com/office/officeart/2005/8/layout/vList6" loCatId="process" qsTypeId="urn:microsoft.com/office/officeart/2005/8/quickstyle/simple1" qsCatId="simple" csTypeId="urn:microsoft.com/office/officeart/2005/8/colors/accent0_2" csCatId="mainScheme" phldr="1"/>
      <dgm:spPr/>
      <dgm:t>
        <a:bodyPr/>
        <a:lstStyle/>
        <a:p>
          <a:endParaRPr lang="en-US"/>
        </a:p>
      </dgm:t>
    </dgm:pt>
    <dgm:pt modelId="{1E3B359A-C8EF-4E4F-AFC5-0572DCAAEDE8}">
      <dgm:prSet phldrT="[Text]" phldr="0" custT="1"/>
      <dgm:spPr/>
      <dgm:t>
        <a:bodyPr/>
        <a:lstStyle/>
        <a:p>
          <a:pPr rtl="0"/>
          <a:r>
            <a:rPr lang="en-US" sz="2000" b="1" dirty="0">
              <a:solidFill>
                <a:schemeClr val="tx1"/>
              </a:solidFill>
              <a:latin typeface="Times New Roman"/>
              <a:cs typeface="Times New Roman"/>
            </a:rPr>
            <a:t>Paid Media</a:t>
          </a:r>
          <a:r>
            <a:rPr lang="en-US" sz="1800" dirty="0">
              <a:solidFill>
                <a:schemeClr val="tx1"/>
              </a:solidFill>
              <a:latin typeface="Times New Roman"/>
              <a:cs typeface="Times New Roman"/>
            </a:rPr>
            <a:t> (Used to increase brand visibility and reach new audiences.)</a:t>
          </a:r>
        </a:p>
      </dgm:t>
    </dgm:pt>
    <dgm:pt modelId="{C6BF8E52-D91D-4308-BD4F-84B31753B3E3}" type="parTrans" cxnId="{51ABDDAD-3F75-4371-B584-944C6865A682}">
      <dgm:prSet/>
      <dgm:spPr/>
      <dgm:t>
        <a:bodyPr/>
        <a:lstStyle/>
        <a:p>
          <a:endParaRPr lang="en-US"/>
        </a:p>
      </dgm:t>
    </dgm:pt>
    <dgm:pt modelId="{49094896-2552-46B6-A37A-ED203AED5426}" type="sibTrans" cxnId="{51ABDDAD-3F75-4371-B584-944C6865A682}">
      <dgm:prSet/>
      <dgm:spPr/>
      <dgm:t>
        <a:bodyPr/>
        <a:lstStyle/>
        <a:p>
          <a:endParaRPr lang="en-US"/>
        </a:p>
      </dgm:t>
    </dgm:pt>
    <dgm:pt modelId="{AEA6BA32-1D9A-4DA8-A7B7-6864C34EA88A}">
      <dgm:prSet phldrT="[Text]" phldr="0"/>
      <dgm:spPr/>
      <dgm:t>
        <a:bodyPr/>
        <a:lstStyle/>
        <a:p>
          <a:pPr rtl="0"/>
          <a:r>
            <a:rPr lang="en-US" dirty="0">
              <a:solidFill>
                <a:schemeClr val="tx1"/>
              </a:solidFill>
              <a:latin typeface="Times New Roman"/>
              <a:cs typeface="Times New Roman"/>
            </a:rPr>
            <a:t>Instagram ads</a:t>
          </a:r>
        </a:p>
      </dgm:t>
    </dgm:pt>
    <dgm:pt modelId="{B0EAEDAD-1384-4A7B-B2DF-A16DDE3C3905}" type="parTrans" cxnId="{EE57911B-28A6-484B-BBFD-87C119167878}">
      <dgm:prSet/>
      <dgm:spPr/>
      <dgm:t>
        <a:bodyPr/>
        <a:lstStyle/>
        <a:p>
          <a:endParaRPr lang="en-US"/>
        </a:p>
      </dgm:t>
    </dgm:pt>
    <dgm:pt modelId="{947D63C6-9F6E-4437-857F-D3DF8D80C960}" type="sibTrans" cxnId="{EE57911B-28A6-484B-BBFD-87C119167878}">
      <dgm:prSet/>
      <dgm:spPr/>
      <dgm:t>
        <a:bodyPr/>
        <a:lstStyle/>
        <a:p>
          <a:endParaRPr lang="en-US"/>
        </a:p>
      </dgm:t>
    </dgm:pt>
    <dgm:pt modelId="{12AAD8C6-A5E2-44E0-8627-B8A366D795E5}">
      <dgm:prSet phldrT="[Text]" phldr="0"/>
      <dgm:spPr/>
      <dgm:t>
        <a:bodyPr/>
        <a:lstStyle/>
        <a:p>
          <a:pPr rtl="0"/>
          <a:r>
            <a:rPr lang="en-US" dirty="0">
              <a:solidFill>
                <a:schemeClr val="tx1"/>
              </a:solidFill>
              <a:latin typeface="Times New Roman"/>
              <a:cs typeface="Times New Roman"/>
            </a:rPr>
            <a:t>Influencer collaborations</a:t>
          </a:r>
        </a:p>
      </dgm:t>
    </dgm:pt>
    <dgm:pt modelId="{4B35CDF9-8659-4049-9E4A-2B7CDF584A8E}" type="parTrans" cxnId="{6028B0AB-748E-4F7F-9DC3-A84AC140790F}">
      <dgm:prSet/>
      <dgm:spPr/>
      <dgm:t>
        <a:bodyPr/>
        <a:lstStyle/>
        <a:p>
          <a:endParaRPr lang="en-US"/>
        </a:p>
      </dgm:t>
    </dgm:pt>
    <dgm:pt modelId="{4D905E95-D81B-48FC-80DB-7575B014148E}" type="sibTrans" cxnId="{6028B0AB-748E-4F7F-9DC3-A84AC140790F}">
      <dgm:prSet/>
      <dgm:spPr/>
      <dgm:t>
        <a:bodyPr/>
        <a:lstStyle/>
        <a:p>
          <a:endParaRPr lang="en-US"/>
        </a:p>
      </dgm:t>
    </dgm:pt>
    <dgm:pt modelId="{6D2DA6D8-2A3A-4E02-AD14-0DC183E829AF}">
      <dgm:prSet phldrT="[Text]" phldr="0"/>
      <dgm:spPr/>
      <dgm:t>
        <a:bodyPr/>
        <a:lstStyle/>
        <a:p>
          <a:pPr rtl="0"/>
          <a:r>
            <a: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Retargeting ads for website visitors</a:t>
          </a:r>
        </a:p>
      </dgm:t>
    </dgm:pt>
    <dgm:pt modelId="{D14952C5-AC8E-478D-8104-310732C72053}" type="parTrans" cxnId="{304A05DE-2D17-4565-9738-20754A7F24BA}">
      <dgm:prSet/>
      <dgm:spPr/>
      <dgm:t>
        <a:bodyPr/>
        <a:lstStyle/>
        <a:p>
          <a:endParaRPr lang="en-US"/>
        </a:p>
      </dgm:t>
    </dgm:pt>
    <dgm:pt modelId="{4960A8EC-1C19-4237-ABBD-3530C9B0EFF9}" type="sibTrans" cxnId="{304A05DE-2D17-4565-9738-20754A7F24BA}">
      <dgm:prSet/>
      <dgm:spPr/>
      <dgm:t>
        <a:bodyPr/>
        <a:lstStyle/>
        <a:p>
          <a:endParaRPr lang="en-US"/>
        </a:p>
      </dgm:t>
    </dgm:pt>
    <dgm:pt modelId="{005ECCC2-BC3A-4150-9EFB-C35241C8E7CD}">
      <dgm:prSet phldrT="[Text]" phldr="0" custT="1"/>
      <dgm:spPr/>
      <dgm:t>
        <a:bodyPr/>
        <a:lstStyle/>
        <a:p>
          <a:pPr rtl="0"/>
          <a:r>
            <a:rPr lang="en-US" sz="2000" b="1" dirty="0">
              <a:solidFill>
                <a:schemeClr val="tx1"/>
              </a:solidFill>
              <a:latin typeface="Times New Roman"/>
              <a:cs typeface="Times New Roman"/>
            </a:rPr>
            <a:t>Owned Media</a:t>
          </a:r>
          <a:r>
            <a:rPr lang="en-US" dirty="0">
              <a:solidFill>
                <a:schemeClr val="tx1"/>
              </a:solidFill>
              <a:latin typeface="Times New Roman"/>
              <a:cs typeface="Times New Roman"/>
            </a:rPr>
            <a:t> (Platforms fully controlled by the brand for storytelling and product discovery.)</a:t>
          </a:r>
        </a:p>
      </dgm:t>
    </dgm:pt>
    <dgm:pt modelId="{F808FC42-D208-48D5-859E-71AFCCE1D8E0}" type="parTrans" cxnId="{9D9D1563-4BA9-4C88-BE92-F03026397F85}">
      <dgm:prSet/>
      <dgm:spPr/>
      <dgm:t>
        <a:bodyPr/>
        <a:lstStyle/>
        <a:p>
          <a:endParaRPr lang="en-US"/>
        </a:p>
      </dgm:t>
    </dgm:pt>
    <dgm:pt modelId="{30385442-179B-4475-B0A9-3D0FE262905E}" type="sibTrans" cxnId="{9D9D1563-4BA9-4C88-BE92-F03026397F85}">
      <dgm:prSet/>
      <dgm:spPr/>
      <dgm:t>
        <a:bodyPr/>
        <a:lstStyle/>
        <a:p>
          <a:endParaRPr lang="en-US"/>
        </a:p>
      </dgm:t>
    </dgm:pt>
    <dgm:pt modelId="{B07F5A2C-43A4-4644-A8BF-C0944D0C5366}">
      <dgm:prSet phldrT="[Text]" phldr="0"/>
      <dgm:spPr/>
      <dgm:t>
        <a:bodyPr/>
        <a:lstStyle/>
        <a:p>
          <a:pPr rtl="0"/>
          <a:r>
            <a:rPr lang="en-US" dirty="0" err="1">
              <a:solidFill>
                <a:schemeClr val="tx1"/>
              </a:solidFill>
              <a:latin typeface="Times New Roman"/>
              <a:cs typeface="Times New Roman"/>
            </a:rPr>
            <a:t>Nymphora</a:t>
          </a:r>
          <a:r>
            <a:rPr lang="en-US" dirty="0">
              <a:solidFill>
                <a:schemeClr val="tx1"/>
              </a:solidFill>
              <a:latin typeface="Times New Roman"/>
              <a:cs typeface="Times New Roman"/>
            </a:rPr>
            <a:t> website</a:t>
          </a:r>
        </a:p>
      </dgm:t>
    </dgm:pt>
    <dgm:pt modelId="{B7705EF0-950C-42AB-A52D-CDF99515335A}" type="parTrans" cxnId="{D66BA8AA-D620-4965-AA82-188DE50F0220}">
      <dgm:prSet/>
      <dgm:spPr/>
      <dgm:t>
        <a:bodyPr/>
        <a:lstStyle/>
        <a:p>
          <a:endParaRPr lang="en-US"/>
        </a:p>
      </dgm:t>
    </dgm:pt>
    <dgm:pt modelId="{ACA52CC7-9F22-45C5-A787-2A6C3D984AAE}" type="sibTrans" cxnId="{D66BA8AA-D620-4965-AA82-188DE50F0220}">
      <dgm:prSet/>
      <dgm:spPr/>
      <dgm:t>
        <a:bodyPr/>
        <a:lstStyle/>
        <a:p>
          <a:endParaRPr lang="en-US"/>
        </a:p>
      </dgm:t>
    </dgm:pt>
    <dgm:pt modelId="{FF0083CE-73D1-42BF-8086-9BC44710762B}">
      <dgm:prSet phldr="0"/>
      <dgm:spPr/>
      <dgm:t>
        <a:bodyPr/>
        <a:lstStyle/>
        <a:p>
          <a:pPr rtl="0"/>
          <a:r>
            <a:rPr lang="en-US" dirty="0">
              <a:solidFill>
                <a:schemeClr val="tx1"/>
              </a:solidFill>
              <a:latin typeface="Times New Roman"/>
              <a:cs typeface="Times New Roman"/>
            </a:rPr>
            <a:t>Instagram page</a:t>
          </a:r>
        </a:p>
      </dgm:t>
    </dgm:pt>
    <dgm:pt modelId="{810672E1-4704-46C3-AB3B-7EA282D7D08E}" type="parTrans" cxnId="{9324E422-1471-4DC4-A1BD-A8C7574B5C22}">
      <dgm:prSet/>
      <dgm:spPr/>
      <dgm:t>
        <a:bodyPr/>
        <a:lstStyle/>
        <a:p>
          <a:endParaRPr lang="en-IN"/>
        </a:p>
      </dgm:t>
    </dgm:pt>
    <dgm:pt modelId="{6019B058-79DD-44C2-80DF-94D7B61F9C35}" type="sibTrans" cxnId="{9324E422-1471-4DC4-A1BD-A8C7574B5C22}">
      <dgm:prSet/>
      <dgm:spPr/>
      <dgm:t>
        <a:bodyPr/>
        <a:lstStyle/>
        <a:p>
          <a:endParaRPr lang="en-IN"/>
        </a:p>
      </dgm:t>
    </dgm:pt>
    <dgm:pt modelId="{5DEBEB5F-E6B9-437C-9251-CE37382FA7AC}">
      <dgm:prSet phldr="0"/>
      <dgm:spPr/>
      <dgm:t>
        <a:bodyPr/>
        <a:lstStyle/>
        <a:p>
          <a:pPr rtl="0"/>
          <a:r>
            <a:rPr lang="en-US" dirty="0">
              <a:solidFill>
                <a:schemeClr val="tx1"/>
              </a:solidFill>
              <a:latin typeface="Times New Roman"/>
              <a:cs typeface="Times New Roman"/>
            </a:rPr>
            <a:t>Email newsletters</a:t>
          </a:r>
        </a:p>
      </dgm:t>
    </dgm:pt>
    <dgm:pt modelId="{D60D1C1C-F7B9-4C6A-AE3E-CF787EB2F0DA}" type="parTrans" cxnId="{A9C11675-8572-469D-8AEA-4909C5849FCA}">
      <dgm:prSet/>
      <dgm:spPr/>
      <dgm:t>
        <a:bodyPr/>
        <a:lstStyle/>
        <a:p>
          <a:endParaRPr lang="en-IN"/>
        </a:p>
      </dgm:t>
    </dgm:pt>
    <dgm:pt modelId="{08B496BC-6354-4454-A7BA-B6974B2496FA}" type="sibTrans" cxnId="{A9C11675-8572-469D-8AEA-4909C5849FCA}">
      <dgm:prSet/>
      <dgm:spPr/>
      <dgm:t>
        <a:bodyPr/>
        <a:lstStyle/>
        <a:p>
          <a:endParaRPr lang="en-IN"/>
        </a:p>
      </dgm:t>
    </dgm:pt>
    <dgm:pt modelId="{C7D61977-DA7E-469C-8D41-D09C81B99747}">
      <dgm:prSet phldr="0" custT="1"/>
      <dgm:spPr/>
      <dgm:t>
        <a:bodyPr/>
        <a:lstStyle/>
        <a:p>
          <a:pPr rtl="0"/>
          <a:r>
            <a:rPr lang="en-US" sz="2000" b="1" dirty="0">
              <a:solidFill>
                <a:schemeClr val="tx1"/>
              </a:solidFill>
              <a:latin typeface="Times New Roman"/>
              <a:cs typeface="Times New Roman"/>
            </a:rPr>
            <a:t>Earned Media</a:t>
          </a:r>
          <a:r>
            <a:rPr lang="en-US" sz="1800" dirty="0">
              <a:solidFill>
                <a:schemeClr val="tx1"/>
              </a:solidFill>
              <a:latin typeface="Times New Roman"/>
              <a:cs typeface="Times New Roman"/>
            </a:rPr>
            <a:t> (Organic visibility created through customer engagement and social sharing.)</a:t>
          </a:r>
          <a:endParaRPr lang="en-US" sz="1800" dirty="0">
            <a:solidFill>
              <a:schemeClr val="tx1"/>
            </a:solidFill>
            <a:latin typeface="Times New Roman"/>
            <a:ea typeface="Calibri"/>
            <a:cs typeface="Times New Roman"/>
          </a:endParaRPr>
        </a:p>
      </dgm:t>
    </dgm:pt>
    <dgm:pt modelId="{493A4DB6-A4C6-45C6-AB92-904A30600ACD}" type="parTrans" cxnId="{541F935C-2404-4478-9E24-38FB7FE7275E}">
      <dgm:prSet/>
      <dgm:spPr/>
      <dgm:t>
        <a:bodyPr/>
        <a:lstStyle/>
        <a:p>
          <a:endParaRPr lang="en-IN"/>
        </a:p>
      </dgm:t>
    </dgm:pt>
    <dgm:pt modelId="{74EA101E-B2D7-4D58-BEF7-36ED303A4476}" type="sibTrans" cxnId="{541F935C-2404-4478-9E24-38FB7FE7275E}">
      <dgm:prSet/>
      <dgm:spPr/>
      <dgm:t>
        <a:bodyPr/>
        <a:lstStyle/>
        <a:p>
          <a:endParaRPr lang="en-IN"/>
        </a:p>
      </dgm:t>
    </dgm:pt>
    <dgm:pt modelId="{907BB022-9191-4809-A598-54515539E2A1}">
      <dgm:prSet phldr="0"/>
      <dgm:spPr/>
      <dgm:t>
        <a:bodyPr/>
        <a:lstStyle/>
        <a:p>
          <a:pPr rtl="0"/>
          <a:r>
            <a:rPr lang="en-US" sz="1100" dirty="0">
              <a:solidFill>
                <a:schemeClr val="tx1"/>
              </a:solidFill>
              <a:latin typeface="Times New Roman"/>
              <a:cs typeface="Times New Roman"/>
            </a:rPr>
            <a:t>Customer reviews</a:t>
          </a:r>
          <a:endParaRPr lang="en-US" sz="1100" dirty="0">
            <a:solidFill>
              <a:schemeClr val="tx1"/>
            </a:solidFill>
            <a:latin typeface="Times New Roman"/>
            <a:ea typeface="Calibri"/>
            <a:cs typeface="Times New Roman"/>
          </a:endParaRPr>
        </a:p>
      </dgm:t>
    </dgm:pt>
    <dgm:pt modelId="{BDC2DCB0-22EA-4D9D-8D9C-F6FE33B11003}" type="parTrans" cxnId="{B70FB1DA-E874-4B94-ACA2-4E7466130C36}">
      <dgm:prSet/>
      <dgm:spPr/>
      <dgm:t>
        <a:bodyPr/>
        <a:lstStyle/>
        <a:p>
          <a:endParaRPr lang="en-IN"/>
        </a:p>
      </dgm:t>
    </dgm:pt>
    <dgm:pt modelId="{5BFF7D32-7AED-4C55-AE25-B5805465E6D9}" type="sibTrans" cxnId="{B70FB1DA-E874-4B94-ACA2-4E7466130C36}">
      <dgm:prSet/>
      <dgm:spPr/>
      <dgm:t>
        <a:bodyPr/>
        <a:lstStyle/>
        <a:p>
          <a:endParaRPr lang="en-IN"/>
        </a:p>
      </dgm:t>
    </dgm:pt>
    <dgm:pt modelId="{9969A160-1C61-48C5-9FE2-BFE58BB5981A}">
      <dgm:prSet phldr="0"/>
      <dgm:spPr/>
      <dgm:t>
        <a:bodyPr/>
        <a:lstStyle/>
        <a:p>
          <a:pPr rtl="0"/>
          <a:r>
            <a:rPr lang="en-US" sz="1100" dirty="0">
              <a:solidFill>
                <a:schemeClr val="tx1"/>
              </a:solidFill>
              <a:latin typeface="Times New Roman"/>
              <a:cs typeface="Times New Roman"/>
            </a:rPr>
            <a:t>User-generated content</a:t>
          </a:r>
          <a:endParaRPr lang="en-US" sz="1100" dirty="0">
            <a:solidFill>
              <a:schemeClr val="tx1"/>
            </a:solidFill>
            <a:latin typeface="Times New Roman"/>
            <a:ea typeface="Calibri"/>
            <a:cs typeface="Times New Roman"/>
          </a:endParaRPr>
        </a:p>
      </dgm:t>
    </dgm:pt>
    <dgm:pt modelId="{A2967B58-4E21-4367-9B71-F5A2FECA799B}" type="parTrans" cxnId="{F7AD0C2A-566F-46CB-822F-73E78C5572EA}">
      <dgm:prSet/>
      <dgm:spPr/>
      <dgm:t>
        <a:bodyPr/>
        <a:lstStyle/>
        <a:p>
          <a:endParaRPr lang="en-IN"/>
        </a:p>
      </dgm:t>
    </dgm:pt>
    <dgm:pt modelId="{673D5FF9-E854-41E6-8C04-E0F6F0781668}" type="sibTrans" cxnId="{F7AD0C2A-566F-46CB-822F-73E78C5572EA}">
      <dgm:prSet/>
      <dgm:spPr/>
      <dgm:t>
        <a:bodyPr/>
        <a:lstStyle/>
        <a:p>
          <a:endParaRPr lang="en-IN"/>
        </a:p>
      </dgm:t>
    </dgm:pt>
    <dgm:pt modelId="{C60C5BA1-7419-42A2-9E92-E04AC7B6523D}">
      <dgm:prSet phldr="0"/>
      <dgm:spPr/>
      <dgm:t>
        <a:bodyPr/>
        <a:lstStyle/>
        <a:p>
          <a:pPr rtl="0"/>
          <a:r>
            <a:rPr lang="en-US" sz="1100" dirty="0">
              <a:solidFill>
                <a:schemeClr val="tx1"/>
              </a:solidFill>
              <a:latin typeface="Times New Roman"/>
              <a:cs typeface="Times New Roman"/>
            </a:rPr>
            <a:t>Influencer mentions and tags</a:t>
          </a:r>
          <a:endParaRPr lang="en-US" sz="1100" dirty="0">
            <a:solidFill>
              <a:schemeClr val="tx1"/>
            </a:solidFill>
            <a:latin typeface="Times New Roman"/>
            <a:ea typeface="Calibri"/>
            <a:cs typeface="Times New Roman"/>
          </a:endParaRPr>
        </a:p>
      </dgm:t>
    </dgm:pt>
    <dgm:pt modelId="{9205D1A3-1559-4A17-B9E0-904D4EE6C61F}" type="parTrans" cxnId="{3066488F-3AC7-4485-A75D-B8A0F26991B3}">
      <dgm:prSet/>
      <dgm:spPr/>
      <dgm:t>
        <a:bodyPr/>
        <a:lstStyle/>
        <a:p>
          <a:endParaRPr lang="en-IN"/>
        </a:p>
      </dgm:t>
    </dgm:pt>
    <dgm:pt modelId="{47C25B18-B1DB-4DBC-9416-9B375A9E178B}" type="sibTrans" cxnId="{3066488F-3AC7-4485-A75D-B8A0F26991B3}">
      <dgm:prSet/>
      <dgm:spPr/>
      <dgm:t>
        <a:bodyPr/>
        <a:lstStyle/>
        <a:p>
          <a:endParaRPr lang="en-IN"/>
        </a:p>
      </dgm:t>
    </dgm:pt>
    <dgm:pt modelId="{9BAA00B0-97C9-45EC-9700-9597D2CB1272}" type="pres">
      <dgm:prSet presAssocID="{E667723F-74DC-4A3E-8884-C6E249721688}" presName="Name0" presStyleCnt="0">
        <dgm:presLayoutVars>
          <dgm:dir/>
          <dgm:animLvl val="lvl"/>
          <dgm:resizeHandles/>
        </dgm:presLayoutVars>
      </dgm:prSet>
      <dgm:spPr/>
    </dgm:pt>
    <dgm:pt modelId="{03EF9E7E-01DE-4BA6-84E2-CE28187C8FCC}" type="pres">
      <dgm:prSet presAssocID="{1E3B359A-C8EF-4E4F-AFC5-0572DCAAEDE8}" presName="linNode" presStyleCnt="0"/>
      <dgm:spPr/>
    </dgm:pt>
    <dgm:pt modelId="{156884ED-825E-4887-A964-A10DC8CCCE1D}" type="pres">
      <dgm:prSet presAssocID="{1E3B359A-C8EF-4E4F-AFC5-0572DCAAEDE8}" presName="parentShp" presStyleLbl="node1" presStyleIdx="0" presStyleCnt="3">
        <dgm:presLayoutVars>
          <dgm:bulletEnabled val="1"/>
        </dgm:presLayoutVars>
      </dgm:prSet>
      <dgm:spPr/>
    </dgm:pt>
    <dgm:pt modelId="{BE432041-1E0E-48E6-B53E-9B0ADF9E098D}" type="pres">
      <dgm:prSet presAssocID="{1E3B359A-C8EF-4E4F-AFC5-0572DCAAEDE8}" presName="childShp" presStyleLbl="bgAccFollowNode1" presStyleIdx="0" presStyleCnt="3">
        <dgm:presLayoutVars>
          <dgm:bulletEnabled val="1"/>
        </dgm:presLayoutVars>
      </dgm:prSet>
      <dgm:spPr/>
    </dgm:pt>
    <dgm:pt modelId="{2620C1F2-29C5-48D1-B4D0-DB0639792027}" type="pres">
      <dgm:prSet presAssocID="{49094896-2552-46B6-A37A-ED203AED5426}" presName="spacing" presStyleCnt="0"/>
      <dgm:spPr/>
    </dgm:pt>
    <dgm:pt modelId="{630C0B5B-5252-4653-B6DA-8006056C9E57}" type="pres">
      <dgm:prSet presAssocID="{005ECCC2-BC3A-4150-9EFB-C35241C8E7CD}" presName="linNode" presStyleCnt="0"/>
      <dgm:spPr/>
    </dgm:pt>
    <dgm:pt modelId="{7ED4DEAF-88A1-4196-91C4-EEB4E24F867B}" type="pres">
      <dgm:prSet presAssocID="{005ECCC2-BC3A-4150-9EFB-C35241C8E7CD}" presName="parentShp" presStyleLbl="node1" presStyleIdx="1" presStyleCnt="3">
        <dgm:presLayoutVars>
          <dgm:bulletEnabled val="1"/>
        </dgm:presLayoutVars>
      </dgm:prSet>
      <dgm:spPr/>
    </dgm:pt>
    <dgm:pt modelId="{C72D5E98-402C-4E7A-B988-8B9BC7234516}" type="pres">
      <dgm:prSet presAssocID="{005ECCC2-BC3A-4150-9EFB-C35241C8E7CD}" presName="childShp" presStyleLbl="bgAccFollowNode1" presStyleIdx="1" presStyleCnt="3">
        <dgm:presLayoutVars>
          <dgm:bulletEnabled val="1"/>
        </dgm:presLayoutVars>
      </dgm:prSet>
      <dgm:spPr/>
    </dgm:pt>
    <dgm:pt modelId="{235D86C7-01EE-4C29-88E1-5A9FA717F3C7}" type="pres">
      <dgm:prSet presAssocID="{30385442-179B-4475-B0A9-3D0FE262905E}" presName="spacing" presStyleCnt="0"/>
      <dgm:spPr/>
    </dgm:pt>
    <dgm:pt modelId="{08993C13-2370-4903-A3F1-C14E355AB05A}" type="pres">
      <dgm:prSet presAssocID="{C7D61977-DA7E-469C-8D41-D09C81B99747}" presName="linNode" presStyleCnt="0"/>
      <dgm:spPr/>
    </dgm:pt>
    <dgm:pt modelId="{A0FD04C3-50E0-42E5-9401-D905D4059ED9}" type="pres">
      <dgm:prSet presAssocID="{C7D61977-DA7E-469C-8D41-D09C81B99747}" presName="parentShp" presStyleLbl="node1" presStyleIdx="2" presStyleCnt="3">
        <dgm:presLayoutVars>
          <dgm:bulletEnabled val="1"/>
        </dgm:presLayoutVars>
      </dgm:prSet>
      <dgm:spPr/>
    </dgm:pt>
    <dgm:pt modelId="{88A31D15-5B6D-475B-A981-4AE15E26040B}" type="pres">
      <dgm:prSet presAssocID="{C7D61977-DA7E-469C-8D41-D09C81B99747}" presName="childShp" presStyleLbl="bgAccFollowNode1" presStyleIdx="2" presStyleCnt="3">
        <dgm:presLayoutVars>
          <dgm:bulletEnabled val="1"/>
        </dgm:presLayoutVars>
      </dgm:prSet>
      <dgm:spPr/>
    </dgm:pt>
  </dgm:ptLst>
  <dgm:cxnLst>
    <dgm:cxn modelId="{0750E20A-FE4D-4463-9AFD-8E35B57473F1}" type="presOf" srcId="{E667723F-74DC-4A3E-8884-C6E249721688}" destId="{9BAA00B0-97C9-45EC-9700-9597D2CB1272}" srcOrd="0" destOrd="0" presId="urn:microsoft.com/office/officeart/2005/8/layout/vList6"/>
    <dgm:cxn modelId="{EE57911B-28A6-484B-BBFD-87C119167878}" srcId="{1E3B359A-C8EF-4E4F-AFC5-0572DCAAEDE8}" destId="{AEA6BA32-1D9A-4DA8-A7B7-6864C34EA88A}" srcOrd="0" destOrd="0" parTransId="{B0EAEDAD-1384-4A7B-B2DF-A16DDE3C3905}" sibTransId="{947D63C6-9F6E-4437-857F-D3DF8D80C960}"/>
    <dgm:cxn modelId="{9324E422-1471-4DC4-A1BD-A8C7574B5C22}" srcId="{005ECCC2-BC3A-4150-9EFB-C35241C8E7CD}" destId="{FF0083CE-73D1-42BF-8086-9BC44710762B}" srcOrd="1" destOrd="0" parTransId="{810672E1-4704-46C3-AB3B-7EA282D7D08E}" sibTransId="{6019B058-79DD-44C2-80DF-94D7B61F9C35}"/>
    <dgm:cxn modelId="{94AD7A23-CFAA-43B4-92E5-1C4258685948}" type="presOf" srcId="{9969A160-1C61-48C5-9FE2-BFE58BB5981A}" destId="{88A31D15-5B6D-475B-A981-4AE15E26040B}" srcOrd="0" destOrd="1" presId="urn:microsoft.com/office/officeart/2005/8/layout/vList6"/>
    <dgm:cxn modelId="{F7AD0C2A-566F-46CB-822F-73E78C5572EA}" srcId="{C7D61977-DA7E-469C-8D41-D09C81B99747}" destId="{9969A160-1C61-48C5-9FE2-BFE58BB5981A}" srcOrd="1" destOrd="0" parTransId="{A2967B58-4E21-4367-9B71-F5A2FECA799B}" sibTransId="{673D5FF9-E854-41E6-8C04-E0F6F0781668}"/>
    <dgm:cxn modelId="{C7ED8839-AD29-4002-A473-AB15A8885D23}" type="presOf" srcId="{12AAD8C6-A5E2-44E0-8627-B8A366D795E5}" destId="{BE432041-1E0E-48E6-B53E-9B0ADF9E098D}" srcOrd="0" destOrd="1" presId="urn:microsoft.com/office/officeart/2005/8/layout/vList6"/>
    <dgm:cxn modelId="{541F935C-2404-4478-9E24-38FB7FE7275E}" srcId="{E667723F-74DC-4A3E-8884-C6E249721688}" destId="{C7D61977-DA7E-469C-8D41-D09C81B99747}" srcOrd="2" destOrd="0" parTransId="{493A4DB6-A4C6-45C6-AB92-904A30600ACD}" sibTransId="{74EA101E-B2D7-4D58-BEF7-36ED303A4476}"/>
    <dgm:cxn modelId="{9D9D1563-4BA9-4C88-BE92-F03026397F85}" srcId="{E667723F-74DC-4A3E-8884-C6E249721688}" destId="{005ECCC2-BC3A-4150-9EFB-C35241C8E7CD}" srcOrd="1" destOrd="0" parTransId="{F808FC42-D208-48D5-859E-71AFCCE1D8E0}" sibTransId="{30385442-179B-4475-B0A9-3D0FE262905E}"/>
    <dgm:cxn modelId="{77A85C67-F052-4BDB-A669-49F6194F90BE}" type="presOf" srcId="{5DEBEB5F-E6B9-437C-9251-CE37382FA7AC}" destId="{C72D5E98-402C-4E7A-B988-8B9BC7234516}" srcOrd="0" destOrd="2" presId="urn:microsoft.com/office/officeart/2005/8/layout/vList6"/>
    <dgm:cxn modelId="{28FE5470-6358-45B9-9FAF-12FDD463E4EA}" type="presOf" srcId="{C60C5BA1-7419-42A2-9E92-E04AC7B6523D}" destId="{88A31D15-5B6D-475B-A981-4AE15E26040B}" srcOrd="0" destOrd="2" presId="urn:microsoft.com/office/officeart/2005/8/layout/vList6"/>
    <dgm:cxn modelId="{90711C52-ACAC-4178-A5C9-00DE2240830A}" type="presOf" srcId="{1E3B359A-C8EF-4E4F-AFC5-0572DCAAEDE8}" destId="{156884ED-825E-4887-A964-A10DC8CCCE1D}" srcOrd="0" destOrd="0" presId="urn:microsoft.com/office/officeart/2005/8/layout/vList6"/>
    <dgm:cxn modelId="{A9C11675-8572-469D-8AEA-4909C5849FCA}" srcId="{005ECCC2-BC3A-4150-9EFB-C35241C8E7CD}" destId="{5DEBEB5F-E6B9-437C-9251-CE37382FA7AC}" srcOrd="2" destOrd="0" parTransId="{D60D1C1C-F7B9-4C6A-AE3E-CF787EB2F0DA}" sibTransId="{08B496BC-6354-4454-A7BA-B6974B2496FA}"/>
    <dgm:cxn modelId="{15B0EC56-9922-4BE7-9290-6334D13E71BB}" type="presOf" srcId="{FF0083CE-73D1-42BF-8086-9BC44710762B}" destId="{C72D5E98-402C-4E7A-B988-8B9BC7234516}" srcOrd="0" destOrd="1" presId="urn:microsoft.com/office/officeart/2005/8/layout/vList6"/>
    <dgm:cxn modelId="{6743697C-577A-461A-B562-A09C25661201}" type="presOf" srcId="{005ECCC2-BC3A-4150-9EFB-C35241C8E7CD}" destId="{7ED4DEAF-88A1-4196-91C4-EEB4E24F867B}" srcOrd="0" destOrd="0" presId="urn:microsoft.com/office/officeart/2005/8/layout/vList6"/>
    <dgm:cxn modelId="{3066488F-3AC7-4485-A75D-B8A0F26991B3}" srcId="{C7D61977-DA7E-469C-8D41-D09C81B99747}" destId="{C60C5BA1-7419-42A2-9E92-E04AC7B6523D}" srcOrd="2" destOrd="0" parTransId="{9205D1A3-1559-4A17-B9E0-904D4EE6C61F}" sibTransId="{47C25B18-B1DB-4DBC-9416-9B375A9E178B}"/>
    <dgm:cxn modelId="{398C43A4-997A-4049-B34A-5B4BA4291797}" type="presOf" srcId="{C7D61977-DA7E-469C-8D41-D09C81B99747}" destId="{A0FD04C3-50E0-42E5-9401-D905D4059ED9}" srcOrd="0" destOrd="0" presId="urn:microsoft.com/office/officeart/2005/8/layout/vList6"/>
    <dgm:cxn modelId="{740A78AA-0EED-41B6-85FE-DC6A34193B4F}" type="presOf" srcId="{6D2DA6D8-2A3A-4E02-AD14-0DC183E829AF}" destId="{BE432041-1E0E-48E6-B53E-9B0ADF9E098D}" srcOrd="0" destOrd="2" presId="urn:microsoft.com/office/officeart/2005/8/layout/vList6"/>
    <dgm:cxn modelId="{D66BA8AA-D620-4965-AA82-188DE50F0220}" srcId="{005ECCC2-BC3A-4150-9EFB-C35241C8E7CD}" destId="{B07F5A2C-43A4-4644-A8BF-C0944D0C5366}" srcOrd="0" destOrd="0" parTransId="{B7705EF0-950C-42AB-A52D-CDF99515335A}" sibTransId="{ACA52CC7-9F22-45C5-A787-2A6C3D984AAE}"/>
    <dgm:cxn modelId="{6028B0AB-748E-4F7F-9DC3-A84AC140790F}" srcId="{1E3B359A-C8EF-4E4F-AFC5-0572DCAAEDE8}" destId="{12AAD8C6-A5E2-44E0-8627-B8A366D795E5}" srcOrd="1" destOrd="0" parTransId="{4B35CDF9-8659-4049-9E4A-2B7CDF584A8E}" sibTransId="{4D905E95-D81B-48FC-80DB-7575B014148E}"/>
    <dgm:cxn modelId="{51ABDDAD-3F75-4371-B584-944C6865A682}" srcId="{E667723F-74DC-4A3E-8884-C6E249721688}" destId="{1E3B359A-C8EF-4E4F-AFC5-0572DCAAEDE8}" srcOrd="0" destOrd="0" parTransId="{C6BF8E52-D91D-4308-BD4F-84B31753B3E3}" sibTransId="{49094896-2552-46B6-A37A-ED203AED5426}"/>
    <dgm:cxn modelId="{B70FB1DA-E874-4B94-ACA2-4E7466130C36}" srcId="{C7D61977-DA7E-469C-8D41-D09C81B99747}" destId="{907BB022-9191-4809-A598-54515539E2A1}" srcOrd="0" destOrd="0" parTransId="{BDC2DCB0-22EA-4D9D-8D9C-F6FE33B11003}" sibTransId="{5BFF7D32-7AED-4C55-AE25-B5805465E6D9}"/>
    <dgm:cxn modelId="{304A05DE-2D17-4565-9738-20754A7F24BA}" srcId="{1E3B359A-C8EF-4E4F-AFC5-0572DCAAEDE8}" destId="{6D2DA6D8-2A3A-4E02-AD14-0DC183E829AF}" srcOrd="2" destOrd="0" parTransId="{D14952C5-AC8E-478D-8104-310732C72053}" sibTransId="{4960A8EC-1C19-4237-ABBD-3530C9B0EFF9}"/>
    <dgm:cxn modelId="{7264A4EC-DD7E-4771-B86C-C6D96B793206}" type="presOf" srcId="{907BB022-9191-4809-A598-54515539E2A1}" destId="{88A31D15-5B6D-475B-A981-4AE15E26040B}" srcOrd="0" destOrd="0" presId="urn:microsoft.com/office/officeart/2005/8/layout/vList6"/>
    <dgm:cxn modelId="{B57DE4EE-8908-4464-8B6C-4046B61B2FB4}" type="presOf" srcId="{B07F5A2C-43A4-4644-A8BF-C0944D0C5366}" destId="{C72D5E98-402C-4E7A-B988-8B9BC7234516}" srcOrd="0" destOrd="0" presId="urn:microsoft.com/office/officeart/2005/8/layout/vList6"/>
    <dgm:cxn modelId="{98E353F1-F73C-4F8E-BD15-E2249EFB15E0}" type="presOf" srcId="{AEA6BA32-1D9A-4DA8-A7B7-6864C34EA88A}" destId="{BE432041-1E0E-48E6-B53E-9B0ADF9E098D}" srcOrd="0" destOrd="0" presId="urn:microsoft.com/office/officeart/2005/8/layout/vList6"/>
    <dgm:cxn modelId="{3BE8D198-5516-4A61-B566-16FDF95CAD4F}" type="presParOf" srcId="{9BAA00B0-97C9-45EC-9700-9597D2CB1272}" destId="{03EF9E7E-01DE-4BA6-84E2-CE28187C8FCC}" srcOrd="0" destOrd="0" presId="urn:microsoft.com/office/officeart/2005/8/layout/vList6"/>
    <dgm:cxn modelId="{61879D2B-816E-4EB5-A7FD-DB497883CEC7}" type="presParOf" srcId="{03EF9E7E-01DE-4BA6-84E2-CE28187C8FCC}" destId="{156884ED-825E-4887-A964-A10DC8CCCE1D}" srcOrd="0" destOrd="0" presId="urn:microsoft.com/office/officeart/2005/8/layout/vList6"/>
    <dgm:cxn modelId="{E41BA7EB-D7F8-4CB6-8E76-9DC66BCBFC45}" type="presParOf" srcId="{03EF9E7E-01DE-4BA6-84E2-CE28187C8FCC}" destId="{BE432041-1E0E-48E6-B53E-9B0ADF9E098D}" srcOrd="1" destOrd="0" presId="urn:microsoft.com/office/officeart/2005/8/layout/vList6"/>
    <dgm:cxn modelId="{6B76F7DA-2B10-4F1C-9EF1-EB433873E7A4}" type="presParOf" srcId="{9BAA00B0-97C9-45EC-9700-9597D2CB1272}" destId="{2620C1F2-29C5-48D1-B4D0-DB0639792027}" srcOrd="1" destOrd="0" presId="urn:microsoft.com/office/officeart/2005/8/layout/vList6"/>
    <dgm:cxn modelId="{557F0584-CA0D-4A88-8571-A9B09FB9D2BE}" type="presParOf" srcId="{9BAA00B0-97C9-45EC-9700-9597D2CB1272}" destId="{630C0B5B-5252-4653-B6DA-8006056C9E57}" srcOrd="2" destOrd="0" presId="urn:microsoft.com/office/officeart/2005/8/layout/vList6"/>
    <dgm:cxn modelId="{30A16B24-03CC-4244-AB5E-51F0BCC07AA2}" type="presParOf" srcId="{630C0B5B-5252-4653-B6DA-8006056C9E57}" destId="{7ED4DEAF-88A1-4196-91C4-EEB4E24F867B}" srcOrd="0" destOrd="0" presId="urn:microsoft.com/office/officeart/2005/8/layout/vList6"/>
    <dgm:cxn modelId="{63F4CFD5-C3B8-48D7-8156-CBAB5B255391}" type="presParOf" srcId="{630C0B5B-5252-4653-B6DA-8006056C9E57}" destId="{C72D5E98-402C-4E7A-B988-8B9BC7234516}" srcOrd="1" destOrd="0" presId="urn:microsoft.com/office/officeart/2005/8/layout/vList6"/>
    <dgm:cxn modelId="{601E30F1-28F7-473A-88FE-0306162E54D7}" type="presParOf" srcId="{9BAA00B0-97C9-45EC-9700-9597D2CB1272}" destId="{235D86C7-01EE-4C29-88E1-5A9FA717F3C7}" srcOrd="3" destOrd="0" presId="urn:microsoft.com/office/officeart/2005/8/layout/vList6"/>
    <dgm:cxn modelId="{9362F579-347E-4B48-BA4D-4AFF914E8E46}" type="presParOf" srcId="{9BAA00B0-97C9-45EC-9700-9597D2CB1272}" destId="{08993C13-2370-4903-A3F1-C14E355AB05A}" srcOrd="4" destOrd="0" presId="urn:microsoft.com/office/officeart/2005/8/layout/vList6"/>
    <dgm:cxn modelId="{59DC8F12-443E-4C7A-888C-E85B18ECB0DB}" type="presParOf" srcId="{08993C13-2370-4903-A3F1-C14E355AB05A}" destId="{A0FD04C3-50E0-42E5-9401-D905D4059ED9}" srcOrd="0" destOrd="0" presId="urn:microsoft.com/office/officeart/2005/8/layout/vList6"/>
    <dgm:cxn modelId="{900CEA34-3748-41F1-B48C-DF4A405347E7}" type="presParOf" srcId="{08993C13-2370-4903-A3F1-C14E355AB05A}" destId="{88A31D15-5B6D-475B-A981-4AE15E26040B}" srcOrd="1" destOrd="0" presId="urn:microsoft.com/office/officeart/2005/8/layout/vList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71AB4EE-20F6-427F-BDED-85E8F0F2BA2D}">
      <dsp:nvSpPr>
        <dsp:cNvPr id="0" name=""/>
        <dsp:cNvSpPr/>
      </dsp:nvSpPr>
      <dsp:spPr>
        <a:xfrm rot="5400000">
          <a:off x="-286225" y="288176"/>
          <a:ext cx="1908168" cy="1335717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latin typeface="Times New Roman"/>
              <a:cs typeface="Times New Roman"/>
            </a:rPr>
            <a:t>TOFU- awareness</a:t>
          </a:r>
        </a:p>
      </dsp:txBody>
      <dsp:txXfrm rot="-5400000">
        <a:off x="1" y="669810"/>
        <a:ext cx="1335717" cy="572451"/>
      </dsp:txXfrm>
    </dsp:sp>
    <dsp:sp modelId="{1589680F-993E-4A4F-89CF-FF1190386563}">
      <dsp:nvSpPr>
        <dsp:cNvPr id="0" name=""/>
        <dsp:cNvSpPr/>
      </dsp:nvSpPr>
      <dsp:spPr>
        <a:xfrm rot="5400000">
          <a:off x="3831300" y="-2493630"/>
          <a:ext cx="1240309" cy="623147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9525" rIns="9525" bIns="9525" numCol="1" spcCol="1270" anchor="ctr" anchorCtr="0">
          <a:noAutofit/>
        </a:bodyPr>
        <a:lstStyle/>
        <a:p>
          <a:pPr marL="114300" lvl="1" indent="-114300" algn="l" defTabSz="6667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b="1" kern="1200" dirty="0">
              <a:latin typeface="Times New Roman"/>
              <a:cs typeface="Times New Roman"/>
            </a:rPr>
            <a:t> Objective:</a:t>
          </a:r>
          <a:r>
            <a:rPr lang="en-US" sz="1500" b="0" kern="1200" dirty="0">
              <a:latin typeface="Times New Roman"/>
              <a:cs typeface="Times New Roman"/>
            </a:rPr>
            <a:t> Introduce Nymphora as an everyday minimalist jewelry brand.</a:t>
          </a:r>
        </a:p>
        <a:p>
          <a:pPr marL="114300" lvl="1" indent="-114300" algn="l" defTabSz="6667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>
              <a:latin typeface="Times New Roman"/>
              <a:ea typeface="Calibri"/>
              <a:cs typeface="Times New Roman"/>
            </a:rPr>
            <a:t> Promoting everyday styling with dainty jewelry through subconscious attempt at creating GRWM type content</a:t>
          </a:r>
          <a:endParaRPr lang="en-US" sz="1500" kern="1200" dirty="0">
            <a:latin typeface="Times New Roman"/>
            <a:cs typeface="Times New Roman"/>
          </a:endParaRPr>
        </a:p>
        <a:p>
          <a:pPr marL="114300" lvl="1" indent="-114300" algn="l" defTabSz="6667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>
              <a:latin typeface="Times New Roman"/>
              <a:cs typeface="Times New Roman"/>
            </a:rPr>
            <a:t> Creating sense of urgency- having dainty jewelry in vanity is ESSENTIAL for 2026 fashion</a:t>
          </a:r>
        </a:p>
      </dsp:txBody>
      <dsp:txXfrm rot="-5400000">
        <a:off x="1335718" y="62499"/>
        <a:ext cx="6170927" cy="1119215"/>
      </dsp:txXfrm>
    </dsp:sp>
    <dsp:sp modelId="{C6128FC3-7F18-4C9B-A57B-DCC42E346DE8}">
      <dsp:nvSpPr>
        <dsp:cNvPr id="0" name=""/>
        <dsp:cNvSpPr/>
      </dsp:nvSpPr>
      <dsp:spPr>
        <a:xfrm rot="5400000">
          <a:off x="-286225" y="2005143"/>
          <a:ext cx="1908168" cy="1335717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kern="1200" dirty="0">
              <a:latin typeface="Times New Roman"/>
              <a:cs typeface="Times New Roman"/>
            </a:rPr>
            <a:t> </a:t>
          </a:r>
          <a:r>
            <a:rPr lang="en-US" sz="2000" b="1" kern="1200" dirty="0">
              <a:latin typeface="Times New Roman"/>
              <a:cs typeface="Times New Roman"/>
            </a:rPr>
            <a:t>MOFU-</a:t>
          </a:r>
          <a:r>
            <a:rPr lang="en-US" sz="1800" b="1" kern="1200" dirty="0">
              <a:latin typeface="Times New Roman"/>
              <a:cs typeface="Times New Roman"/>
            </a:rPr>
            <a:t> </a:t>
          </a:r>
          <a:r>
            <a:rPr lang="en-US" sz="1700" b="1" kern="1200" dirty="0">
              <a:latin typeface="Times New Roman"/>
              <a:cs typeface="Times New Roman"/>
            </a:rPr>
            <a:t>consideration</a:t>
          </a:r>
        </a:p>
      </dsp:txBody>
      <dsp:txXfrm rot="-5400000">
        <a:off x="1" y="2386777"/>
        <a:ext cx="1335717" cy="572451"/>
      </dsp:txXfrm>
    </dsp:sp>
    <dsp:sp modelId="{BBA1351F-A83C-4C31-8F9E-C1D5355C8AD1}">
      <dsp:nvSpPr>
        <dsp:cNvPr id="0" name=""/>
        <dsp:cNvSpPr/>
      </dsp:nvSpPr>
      <dsp:spPr>
        <a:xfrm rot="5400000">
          <a:off x="3831300" y="-776664"/>
          <a:ext cx="1240309" cy="623147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9525" rIns="9525" bIns="9525" numCol="1" spcCol="1270" anchor="ctr" anchorCtr="0">
          <a:noAutofit/>
        </a:bodyPr>
        <a:lstStyle/>
        <a:p>
          <a:pPr marL="114300" lvl="1" indent="-114300" algn="l" defTabSz="6667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b="1" kern="1200" dirty="0">
              <a:latin typeface="Times New Roman"/>
              <a:cs typeface="Times New Roman"/>
            </a:rPr>
            <a:t> Objective:</a:t>
          </a:r>
          <a:r>
            <a:rPr lang="en-US" sz="1500" kern="1200" dirty="0">
              <a:latin typeface="Times New Roman"/>
              <a:cs typeface="Times New Roman"/>
            </a:rPr>
            <a:t> Help customers understand how Nymphora fits into daily style.</a:t>
          </a:r>
        </a:p>
        <a:p>
          <a:pPr marL="114300" lvl="1" indent="-114300" algn="l" defTabSz="6667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>
              <a:latin typeface="Times New Roman"/>
              <a:ea typeface="Calibri"/>
              <a:cs typeface="Times New Roman"/>
            </a:rPr>
            <a:t> How minimalist jewelry elevates everyday basics</a:t>
          </a:r>
          <a:endParaRPr lang="en-US" sz="1500" kern="1200" dirty="0">
            <a:latin typeface="Times New Roman"/>
            <a:cs typeface="Times New Roman"/>
          </a:endParaRPr>
        </a:p>
        <a:p>
          <a:pPr marL="114300" lvl="1" indent="-114300" algn="l" defTabSz="6667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>
              <a:latin typeface="Times New Roman"/>
              <a:cs typeface="Times New Roman"/>
            </a:rPr>
            <a:t> Browsable catalogs, lookbooks, &amp; style guide that allow slow, intentional decision making</a:t>
          </a:r>
        </a:p>
      </dsp:txBody>
      <dsp:txXfrm rot="-5400000">
        <a:off x="1335718" y="1779465"/>
        <a:ext cx="6170927" cy="1119215"/>
      </dsp:txXfrm>
    </dsp:sp>
    <dsp:sp modelId="{F59A6ECE-3733-44D5-B565-5532EBD8C997}">
      <dsp:nvSpPr>
        <dsp:cNvPr id="0" name=""/>
        <dsp:cNvSpPr/>
      </dsp:nvSpPr>
      <dsp:spPr>
        <a:xfrm rot="5400000">
          <a:off x="-286225" y="3722109"/>
          <a:ext cx="1908168" cy="1335717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latin typeface="Times New Roman"/>
              <a:cs typeface="Times New Roman"/>
            </a:rPr>
            <a:t>BOFU- conversion</a:t>
          </a:r>
        </a:p>
      </dsp:txBody>
      <dsp:txXfrm rot="-5400000">
        <a:off x="1" y="4103743"/>
        <a:ext cx="1335717" cy="572451"/>
      </dsp:txXfrm>
    </dsp:sp>
    <dsp:sp modelId="{2C80A345-BC94-4119-9929-52CFC0B10EDD}">
      <dsp:nvSpPr>
        <dsp:cNvPr id="0" name=""/>
        <dsp:cNvSpPr/>
      </dsp:nvSpPr>
      <dsp:spPr>
        <a:xfrm rot="5400000">
          <a:off x="3831300" y="940301"/>
          <a:ext cx="1240309" cy="623147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9525" rIns="9525" bIns="9525" numCol="1" spcCol="1270" anchor="ctr" anchorCtr="0">
          <a:noAutofit/>
        </a:bodyPr>
        <a:lstStyle/>
        <a:p>
          <a:pPr marL="114300" lvl="1" indent="-114300" algn="l" defTabSz="6667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b="1" kern="1200" dirty="0">
              <a:latin typeface="Times New Roman"/>
              <a:cs typeface="Times New Roman"/>
            </a:rPr>
            <a:t> Objective:</a:t>
          </a:r>
          <a:r>
            <a:rPr lang="en-US" sz="1500" kern="1200" dirty="0">
              <a:latin typeface="Times New Roman"/>
              <a:cs typeface="Times New Roman"/>
            </a:rPr>
            <a:t> Encourage customers to make their first purchase.</a:t>
          </a:r>
        </a:p>
        <a:p>
          <a:pPr marL="114300" lvl="1" indent="-114300" algn="l" defTabSz="6667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>
              <a:solidFill>
                <a:srgbClr val="444444"/>
              </a:solidFill>
              <a:latin typeface="Times New Roman"/>
              <a:ea typeface="Calibri"/>
              <a:cs typeface="Times New Roman"/>
            </a:rPr>
            <a:t> </a:t>
          </a:r>
          <a:r>
            <a:rPr lang="en-US" sz="1500" kern="1200" dirty="0">
              <a:solidFill>
                <a:schemeClr val="tx1"/>
              </a:solidFill>
              <a:latin typeface="Times New Roman"/>
              <a:ea typeface="Calibri"/>
              <a:cs typeface="Times New Roman"/>
            </a:rPr>
            <a:t>Aesthetic website with specific color patterns,, intuitive product positioning &amp; enhanced display for seamless first-time shopping experience.</a:t>
          </a:r>
        </a:p>
        <a:p>
          <a:pPr marL="114300" lvl="1" indent="-114300" algn="l" defTabSz="6667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>
              <a:latin typeface="Times New Roman"/>
              <a:cs typeface="Times New Roman"/>
            </a:rPr>
            <a:t> Subtle prompts around gifting &amp; personal milestones to encourage purchase without urgency pressure</a:t>
          </a:r>
        </a:p>
      </dsp:txBody>
      <dsp:txXfrm rot="-5400000">
        <a:off x="1335718" y="3496431"/>
        <a:ext cx="6170927" cy="111921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E432041-1E0E-48E6-B53E-9B0ADF9E098D}">
      <dsp:nvSpPr>
        <dsp:cNvPr id="0" name=""/>
        <dsp:cNvSpPr/>
      </dsp:nvSpPr>
      <dsp:spPr>
        <a:xfrm>
          <a:off x="3856616" y="0"/>
          <a:ext cx="5784924" cy="1097155"/>
        </a:xfrm>
        <a:prstGeom prst="rightArrow">
          <a:avLst>
            <a:gd name="adj1" fmla="val 75000"/>
            <a:gd name="adj2" fmla="val 50000"/>
          </a:avLst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11430" rIns="11430" bIns="11430" numCol="1" spcCol="1270" anchor="t" anchorCtr="0">
          <a:noAutofit/>
        </a:bodyPr>
        <a:lstStyle/>
        <a:p>
          <a:pPr marL="171450" lvl="1" indent="-171450" algn="l" defTabSz="8001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>
              <a:solidFill>
                <a:schemeClr val="tx1"/>
              </a:solidFill>
              <a:latin typeface="Times New Roman"/>
              <a:cs typeface="Times New Roman"/>
            </a:rPr>
            <a:t>Instagram ads</a:t>
          </a:r>
        </a:p>
        <a:p>
          <a:pPr marL="171450" lvl="1" indent="-171450" algn="l" defTabSz="8001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>
              <a:solidFill>
                <a:schemeClr val="tx1"/>
              </a:solidFill>
              <a:latin typeface="Times New Roman"/>
              <a:cs typeface="Times New Roman"/>
            </a:rPr>
            <a:t>Influencer collaborations</a:t>
          </a:r>
        </a:p>
        <a:p>
          <a:pPr marL="171450" lvl="1" indent="-171450" algn="l" defTabSz="8001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Retargeting ads for website visitors</a:t>
          </a:r>
        </a:p>
      </dsp:txBody>
      <dsp:txXfrm>
        <a:off x="3856616" y="137144"/>
        <a:ext cx="5373491" cy="822867"/>
      </dsp:txXfrm>
    </dsp:sp>
    <dsp:sp modelId="{156884ED-825E-4887-A964-A10DC8CCCE1D}">
      <dsp:nvSpPr>
        <dsp:cNvPr id="0" name=""/>
        <dsp:cNvSpPr/>
      </dsp:nvSpPr>
      <dsp:spPr>
        <a:xfrm>
          <a:off x="0" y="0"/>
          <a:ext cx="3856616" cy="1097155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solidFill>
                <a:schemeClr val="tx1"/>
              </a:solidFill>
              <a:latin typeface="Times New Roman"/>
              <a:cs typeface="Times New Roman"/>
            </a:rPr>
            <a:t>Paid Media</a:t>
          </a:r>
          <a:r>
            <a:rPr lang="en-US" sz="1800" kern="1200" dirty="0">
              <a:solidFill>
                <a:schemeClr val="tx1"/>
              </a:solidFill>
              <a:latin typeface="Times New Roman"/>
              <a:cs typeface="Times New Roman"/>
            </a:rPr>
            <a:t> (Used to increase brand visibility and reach new audiences.)</a:t>
          </a:r>
        </a:p>
      </dsp:txBody>
      <dsp:txXfrm>
        <a:off x="53559" y="53559"/>
        <a:ext cx="3749498" cy="990037"/>
      </dsp:txXfrm>
    </dsp:sp>
    <dsp:sp modelId="{C72D5E98-402C-4E7A-B988-8B9BC7234516}">
      <dsp:nvSpPr>
        <dsp:cNvPr id="0" name=""/>
        <dsp:cNvSpPr/>
      </dsp:nvSpPr>
      <dsp:spPr>
        <a:xfrm>
          <a:off x="3856616" y="1206870"/>
          <a:ext cx="5784924" cy="1097155"/>
        </a:xfrm>
        <a:prstGeom prst="rightArrow">
          <a:avLst>
            <a:gd name="adj1" fmla="val 75000"/>
            <a:gd name="adj2" fmla="val 50000"/>
          </a:avLst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11430" rIns="11430" bIns="11430" numCol="1" spcCol="1270" anchor="t" anchorCtr="0">
          <a:noAutofit/>
        </a:bodyPr>
        <a:lstStyle/>
        <a:p>
          <a:pPr marL="171450" lvl="1" indent="-171450" algn="l" defTabSz="8001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 err="1">
              <a:solidFill>
                <a:schemeClr val="tx1"/>
              </a:solidFill>
              <a:latin typeface="Times New Roman"/>
              <a:cs typeface="Times New Roman"/>
            </a:rPr>
            <a:t>Nymphora</a:t>
          </a:r>
          <a:r>
            <a:rPr lang="en-US" sz="1800" kern="1200" dirty="0">
              <a:solidFill>
                <a:schemeClr val="tx1"/>
              </a:solidFill>
              <a:latin typeface="Times New Roman"/>
              <a:cs typeface="Times New Roman"/>
            </a:rPr>
            <a:t> website</a:t>
          </a:r>
        </a:p>
        <a:p>
          <a:pPr marL="171450" lvl="1" indent="-171450" algn="l" defTabSz="8001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>
              <a:solidFill>
                <a:schemeClr val="tx1"/>
              </a:solidFill>
              <a:latin typeface="Times New Roman"/>
              <a:cs typeface="Times New Roman"/>
            </a:rPr>
            <a:t>Instagram page</a:t>
          </a:r>
        </a:p>
        <a:p>
          <a:pPr marL="171450" lvl="1" indent="-171450" algn="l" defTabSz="8001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>
              <a:solidFill>
                <a:schemeClr val="tx1"/>
              </a:solidFill>
              <a:latin typeface="Times New Roman"/>
              <a:cs typeface="Times New Roman"/>
            </a:rPr>
            <a:t>Email newsletters</a:t>
          </a:r>
        </a:p>
      </dsp:txBody>
      <dsp:txXfrm>
        <a:off x="3856616" y="1344014"/>
        <a:ext cx="5373491" cy="822867"/>
      </dsp:txXfrm>
    </dsp:sp>
    <dsp:sp modelId="{7ED4DEAF-88A1-4196-91C4-EEB4E24F867B}">
      <dsp:nvSpPr>
        <dsp:cNvPr id="0" name=""/>
        <dsp:cNvSpPr/>
      </dsp:nvSpPr>
      <dsp:spPr>
        <a:xfrm>
          <a:off x="0" y="1206870"/>
          <a:ext cx="3856616" cy="1097155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solidFill>
                <a:schemeClr val="tx1"/>
              </a:solidFill>
              <a:latin typeface="Times New Roman"/>
              <a:cs typeface="Times New Roman"/>
            </a:rPr>
            <a:t>Owned Media</a:t>
          </a:r>
          <a:r>
            <a:rPr lang="en-US" kern="1200" dirty="0">
              <a:solidFill>
                <a:schemeClr val="tx1"/>
              </a:solidFill>
              <a:latin typeface="Times New Roman"/>
              <a:cs typeface="Times New Roman"/>
            </a:rPr>
            <a:t> (Platforms fully controlled by the brand for storytelling and product discovery.)</a:t>
          </a:r>
        </a:p>
      </dsp:txBody>
      <dsp:txXfrm>
        <a:off x="53559" y="1260429"/>
        <a:ext cx="3749498" cy="990037"/>
      </dsp:txXfrm>
    </dsp:sp>
    <dsp:sp modelId="{88A31D15-5B6D-475B-A981-4AE15E26040B}">
      <dsp:nvSpPr>
        <dsp:cNvPr id="0" name=""/>
        <dsp:cNvSpPr/>
      </dsp:nvSpPr>
      <dsp:spPr>
        <a:xfrm>
          <a:off x="3856616" y="2413741"/>
          <a:ext cx="5784924" cy="1097155"/>
        </a:xfrm>
        <a:prstGeom prst="rightArrow">
          <a:avLst>
            <a:gd name="adj1" fmla="val 75000"/>
            <a:gd name="adj2" fmla="val 50000"/>
          </a:avLst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11430" rIns="11430" bIns="11430" numCol="1" spcCol="1270" anchor="t" anchorCtr="0">
          <a:noAutofit/>
        </a:bodyPr>
        <a:lstStyle/>
        <a:p>
          <a:pPr marL="171450" lvl="1" indent="-171450" algn="l" defTabSz="8001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>
              <a:solidFill>
                <a:schemeClr val="tx1"/>
              </a:solidFill>
              <a:latin typeface="Times New Roman"/>
              <a:cs typeface="Times New Roman"/>
            </a:rPr>
            <a:t>Customer reviews</a:t>
          </a:r>
          <a:endParaRPr lang="en-US" sz="1800" kern="1200" dirty="0">
            <a:solidFill>
              <a:schemeClr val="tx1"/>
            </a:solidFill>
            <a:latin typeface="Times New Roman"/>
            <a:ea typeface="Calibri"/>
            <a:cs typeface="Times New Roman"/>
          </a:endParaRPr>
        </a:p>
        <a:p>
          <a:pPr marL="171450" lvl="1" indent="-171450" algn="l" defTabSz="8001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>
              <a:solidFill>
                <a:schemeClr val="tx1"/>
              </a:solidFill>
              <a:latin typeface="Times New Roman"/>
              <a:cs typeface="Times New Roman"/>
            </a:rPr>
            <a:t>User-generated content</a:t>
          </a:r>
          <a:endParaRPr lang="en-US" sz="1800" kern="1200" dirty="0">
            <a:solidFill>
              <a:schemeClr val="tx1"/>
            </a:solidFill>
            <a:latin typeface="Times New Roman"/>
            <a:ea typeface="Calibri"/>
            <a:cs typeface="Times New Roman"/>
          </a:endParaRPr>
        </a:p>
        <a:p>
          <a:pPr marL="171450" lvl="1" indent="-171450" algn="l" defTabSz="8001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>
              <a:solidFill>
                <a:schemeClr val="tx1"/>
              </a:solidFill>
              <a:latin typeface="Times New Roman"/>
              <a:cs typeface="Times New Roman"/>
            </a:rPr>
            <a:t>Influencer mentions and tags</a:t>
          </a:r>
          <a:endParaRPr lang="en-US" sz="1800" kern="1200" dirty="0">
            <a:solidFill>
              <a:schemeClr val="tx1"/>
            </a:solidFill>
            <a:latin typeface="Times New Roman"/>
            <a:ea typeface="Calibri"/>
            <a:cs typeface="Times New Roman"/>
          </a:endParaRPr>
        </a:p>
      </dsp:txBody>
      <dsp:txXfrm>
        <a:off x="3856616" y="2550885"/>
        <a:ext cx="5373491" cy="822867"/>
      </dsp:txXfrm>
    </dsp:sp>
    <dsp:sp modelId="{A0FD04C3-50E0-42E5-9401-D905D4059ED9}">
      <dsp:nvSpPr>
        <dsp:cNvPr id="0" name=""/>
        <dsp:cNvSpPr/>
      </dsp:nvSpPr>
      <dsp:spPr>
        <a:xfrm>
          <a:off x="0" y="2413741"/>
          <a:ext cx="3856616" cy="1097155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solidFill>
                <a:schemeClr val="tx1"/>
              </a:solidFill>
              <a:latin typeface="Times New Roman"/>
              <a:cs typeface="Times New Roman"/>
            </a:rPr>
            <a:t>Earned Media</a:t>
          </a:r>
          <a:r>
            <a:rPr lang="en-US" sz="1800" kern="1200" dirty="0">
              <a:solidFill>
                <a:schemeClr val="tx1"/>
              </a:solidFill>
              <a:latin typeface="Times New Roman"/>
              <a:cs typeface="Times New Roman"/>
            </a:rPr>
            <a:t> (Organic visibility created through customer engagement and social sharing.)</a:t>
          </a:r>
          <a:endParaRPr lang="en-US" sz="1800" kern="1200" dirty="0">
            <a:solidFill>
              <a:schemeClr val="tx1"/>
            </a:solidFill>
            <a:latin typeface="Times New Roman"/>
            <a:ea typeface="Calibri"/>
            <a:cs typeface="Times New Roman"/>
          </a:endParaRPr>
        </a:p>
      </dsp:txBody>
      <dsp:txXfrm>
        <a:off x="53559" y="2467300"/>
        <a:ext cx="3749498" cy="99003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6">
  <dgm:title val=""/>
  <dgm:desc val=""/>
  <dgm:catLst>
    <dgm:cat type="process" pri="22000"/>
    <dgm:cat type="list" pri="1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w" for="ch" forName="linNode" refType="w"/>
      <dgm:constr type="h" for="ch" forName="linNode" refType="h"/>
      <dgm:constr type="h" for="ch" forName="spacing" refType="h" refFor="ch" refForName="linNode" fact="0.1"/>
      <dgm:constr type="primFontSz" for="des" forName="parentShp" op="equ" val="65"/>
      <dgm:constr type="primFontSz" for="des" forName="childShp" op="equ" val="65"/>
    </dgm:constrLst>
    <dgm:ruleLst/>
    <dgm:forEach name="Name1" axis="ch" ptType="node">
      <dgm:layoutNode name="linNode">
        <dgm:choose name="Name2">
          <dgm:if name="Name3" func="var" arg="dir" op="equ" val="norm">
            <dgm:alg type="lin">
              <dgm:param type="linDir" val="fromL"/>
            </dgm:alg>
          </dgm:if>
          <dgm:else name="Name4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if>
          <dgm:else name="Name7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else>
        </dgm:choose>
        <dgm:ruleLst/>
        <dgm:layoutNode name="parentShp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childShp" styleLbl="bgAccFollowNode1">
          <dgm:varLst>
            <dgm:bulletEnabled val="1"/>
          </dgm:varLst>
          <dgm:alg type="tx">
            <dgm:param type="stBulletLvl" val="1"/>
          </dgm:alg>
          <dgm:choose name="Name8">
            <dgm:if name="Name9" func="var" arg="dir" op="equ" val="norm">
              <dgm:shape xmlns:r="http://schemas.openxmlformats.org/officeDocument/2006/relationships" type="rightArrow" r:blip="" zOrderOff="-2">
                <dgm:adjLst>
                  <dgm:adj idx="1" val="0.75"/>
                </dgm:adjLst>
              </dgm:shape>
            </dgm:if>
            <dgm:else name="Name10">
              <dgm:shape xmlns:r="http://schemas.openxmlformats.org/officeDocument/2006/relationships" rot="180" type="rightArrow" r:blip="" zOrderOff="-2">
                <dgm:adjLst>
                  <dgm:adj idx="1" val="0.75"/>
                </dgm:adjLst>
              </dgm:shape>
            </dgm:else>
          </dgm:choose>
          <dgm:presOf axis="des" ptType="node"/>
          <dgm:constrLst>
            <dgm:constr type="secFontSz" refType="primFontSz"/>
            <dgm:constr type="tMarg" refType="primFontSz" fact="0.05"/>
            <dgm:constr type="bMarg" refType="primFontSz" fact="0.05"/>
            <dgm:constr type="lMarg" refType="primFontSz" fact="0.05"/>
            <dgm:constr type="rMarg" refType="primFontSz" fact="0.05"/>
          </dgm:constrLst>
          <dgm:ruleLst>
            <dgm:rule type="primFontSz" val="5" fact="NaN" max="NaN"/>
          </dgm:ruleLst>
        </dgm:layoutNode>
      </dgm:layoutNode>
      <dgm:forEach name="Name11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nymphora-delicate-grace.lovable.app/" TargetMode="External"/><Relationship Id="rId2" Type="http://schemas.microsoft.com/office/2018/10/relationships/comments" Target="../comments/modernComment_113_5D07D20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jpeg"/><Relationship Id="rId3" Type="http://schemas.openxmlformats.org/officeDocument/2006/relationships/hyperlink" Target="https://www.instagram.com/reel/DWRoHHZCPwl/?igsh=ajUzcnpubzNjOTN5" TargetMode="External"/><Relationship Id="rId7" Type="http://schemas.openxmlformats.org/officeDocument/2006/relationships/hyperlink" Target="https://www.instagram.com/reel/DWRcutGiIue/?igsh=MWprOTd5c2xkZXc2cg==" TargetMode="External"/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jpeg"/><Relationship Id="rId5" Type="http://schemas.openxmlformats.org/officeDocument/2006/relationships/hyperlink" Target="https://www.instagram.com/reel/DWRhV4rE4Ye/?igsh=MWM5Z2Nua3M3NWhlYQ==" TargetMode="External"/><Relationship Id="rId10" Type="http://schemas.openxmlformats.org/officeDocument/2006/relationships/image" Target="../media/image33.jpeg"/><Relationship Id="rId4" Type="http://schemas.openxmlformats.org/officeDocument/2006/relationships/image" Target="../media/image30.jpeg"/><Relationship Id="rId9" Type="http://schemas.openxmlformats.org/officeDocument/2006/relationships/hyperlink" Target="https://www.instagram.com/p/DWRh8zWE6sm/?igsh=MWR6Y2gyZmdhaXk1OQ==" TargetMode="Externa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hyperlink" Target="https://drive.google.com/file/d/1tabuIgK57Dmfqrnwa-bKUyRkIGiq5F6g/view?usp=drive_link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hyperlink" Target="https://drive.google.com/file/d/1LBiUDlinCN__w9oN0dpEU_ajQGu_iFsw/view?usp=drive_link" TargetMode="Externa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hyperlink" Target="file:///C:\Users\kritika%20choubey\Downloads\nymphora_welcome_email.html" TargetMode="Externa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hyperlink" Target="file:///C:\Users\kritika%20choubey\Downloads\nymphora_bestsellers_email.html" TargetMode="Externa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hyperlink" Target="file:///C:\Users\kritika%20choubey\Downloads\nymphora_promo_offer_email.html" TargetMode="Externa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gold necklace with a round pendant on a chain&#10;&#10;AI-generated content may be incorrect.">
            <a:extLst>
              <a:ext uri="{FF2B5EF4-FFF2-40B4-BE49-F238E27FC236}">
                <a16:creationId xmlns:a16="http://schemas.microsoft.com/office/drawing/2014/main" id="{60D7BA6C-FD31-5F47-4DAE-B484319933D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t="29245"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900518"/>
          </a:xfrm>
        </p:spPr>
        <p:txBody>
          <a:bodyPr>
            <a:normAutofit/>
          </a:bodyPr>
          <a:lstStyle/>
          <a:p>
            <a:r>
              <a:rPr lang="en-US" b="1">
                <a:solidFill>
                  <a:srgbClr val="FFFFFF"/>
                </a:solidFill>
                <a:latin typeface="Times New Roman"/>
                <a:cs typeface="Times New Roman"/>
              </a:rPr>
              <a:t>NYMPHORA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159404"/>
            <a:ext cx="9144000" cy="109839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 dirty="0">
                <a:solidFill>
                  <a:srgbClr val="FFFFFF"/>
                </a:solidFill>
                <a:latin typeface="Times New Roman"/>
                <a:cs typeface="Times New Roman"/>
              </a:rPr>
              <a:t>BY LEARNING TEAM- 2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5AA03EDC-7067-4DFF-B672-541D016AAA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EBF3E39-B0BE-496A-8604-9007470FFA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000" cy="686547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1BC154-478D-1E65-08F3-60B0E7913D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1442" y="685800"/>
            <a:ext cx="4353116" cy="1474666"/>
          </a:xfrm>
        </p:spPr>
        <p:txBody>
          <a:bodyPr anchor="b">
            <a:normAutofit/>
          </a:bodyPr>
          <a:lstStyle/>
          <a:p>
            <a:pPr algn="ctr"/>
            <a:r>
              <a:rPr lang="en-US" sz="3600" b="1" dirty="0">
                <a:solidFill>
                  <a:srgbClr val="000000"/>
                </a:solidFill>
                <a:latin typeface="Times New Roman"/>
                <a:cs typeface="Times New Roman"/>
              </a:rPr>
              <a:t>INTRO TO BRAND &amp;  PRODUCT</a:t>
            </a:r>
          </a:p>
          <a:p>
            <a:pPr algn="ctr"/>
            <a:endParaRPr lang="en-US" sz="3600" b="1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D3C188-EFD1-86A7-D2AA-ABB00B27DC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1442" y="2447337"/>
            <a:ext cx="4353116" cy="3770434"/>
          </a:xfrm>
        </p:spPr>
        <p:txBody>
          <a:bodyPr vert="horz" lIns="91440" tIns="45720" rIns="91440" bIns="45720" rtlCol="0" anchor="t">
            <a:normAutofit fontScale="85000" lnSpcReduction="10000"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latin typeface="Times New Roman"/>
                <a:cs typeface="Times New Roman"/>
              </a:rPr>
              <a:t>Brand:</a:t>
            </a:r>
            <a:r>
              <a:rPr lang="en-US" sz="18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Times New Roman"/>
                <a:cs typeface="Times New Roman"/>
              </a:rPr>
              <a:t>Nymphora</a:t>
            </a:r>
            <a:endParaRPr lang="en-US" sz="3200" dirty="0"/>
          </a:p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latin typeface="Times New Roman"/>
                <a:cs typeface="Times New Roman"/>
              </a:rPr>
              <a:t>Industry:</a:t>
            </a:r>
            <a:r>
              <a:rPr lang="en-US" sz="1800" dirty="0">
                <a:solidFill>
                  <a:srgbClr val="000000"/>
                </a:solidFill>
                <a:latin typeface="Times New Roman"/>
                <a:cs typeface="Times New Roman"/>
              </a:rPr>
              <a:t> Fashion Accessories &amp; Lifestyle</a:t>
            </a:r>
          </a:p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latin typeface="Times New Roman"/>
                <a:cs typeface="Times New Roman"/>
              </a:rPr>
              <a:t>Product Category:</a:t>
            </a:r>
            <a:r>
              <a:rPr lang="en-US" sz="1800" dirty="0">
                <a:solidFill>
                  <a:srgbClr val="000000"/>
                </a:solidFill>
                <a:latin typeface="Times New Roman"/>
                <a:cs typeface="Times New Roman"/>
              </a:rPr>
              <a:t> Dainty / Minimalist Jewelry </a:t>
            </a:r>
            <a:endParaRPr lang="en-US" sz="3600" dirty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0" indent="0" algn="just">
              <a:buNone/>
            </a:pPr>
            <a:r>
              <a:rPr lang="en-US" sz="1800" b="1" dirty="0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What </a:t>
            </a:r>
            <a:r>
              <a:rPr lang="en-US" sz="1800" b="1" dirty="0" err="1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Nymphora</a:t>
            </a:r>
            <a:r>
              <a:rPr lang="en-US" sz="1800" b="1" dirty="0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 Stands For: </a:t>
            </a:r>
            <a:r>
              <a:rPr lang="en-US" sz="1800" dirty="0" err="1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Nymphora</a:t>
            </a:r>
            <a:r>
              <a:rPr lang="en-US" sz="1800" dirty="0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 is a digital-first jewelry brand offering delicate, minimalist pieces designed for everyday elegance and emotional expression.</a:t>
            </a:r>
            <a:endParaRPr lang="en-US" sz="1800" dirty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0" indent="0" algn="just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 Customer Focus: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Nymphora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targets urban Gen Z and young millennial consumers who prefer subtle, everyday jewelry over occasion-led pieces. We focus on young women who wear jewelry as part of their daily style, while also appealing to thoughtful male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gifters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seeking elegant, low-risk choices. The brand is positioned as a minimalist, emotionally relevant jewelry label designed for repeat wear and everyday confidence.</a:t>
            </a:r>
          </a:p>
          <a:p>
            <a:endParaRPr lang="en-US" sz="1800" dirty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pic>
        <p:nvPicPr>
          <p:cNvPr id="6" name="Picture 5" descr="A logo for a jewelry store&#10;&#10;AI-generated content may be incorrect.">
            <a:extLst>
              <a:ext uri="{FF2B5EF4-FFF2-40B4-BE49-F238E27FC236}">
                <a16:creationId xmlns:a16="http://schemas.microsoft.com/office/drawing/2014/main" id="{EBA33D67-E90D-EBAF-4969-63B6B02483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1801" y="1535343"/>
            <a:ext cx="4797056" cy="3832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99018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C27D7A02-907B-496F-BA7E-AA3780733C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FBA5268-0AE7-4CAD-9537-D0EB09E764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88D065B-39DA-4077-B9CF-E489CE4C01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800" y="685800"/>
            <a:ext cx="10820400" cy="5486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7F42D17-3769-0F4B-4B4F-0E24BB8EC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9091" y="687048"/>
            <a:ext cx="6884895" cy="74508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200" b="1" dirty="0">
                <a:solidFill>
                  <a:srgbClr val="000000"/>
                </a:solidFill>
                <a:latin typeface="Times New Roman"/>
                <a:cs typeface="Times New Roman"/>
              </a:rPr>
              <a:t>Product Categories</a:t>
            </a:r>
            <a:endParaRPr lang="en-US" sz="3200" b="1" kern="1200" dirty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D8AE90-16B2-116D-57A0-6009292A8414}"/>
              </a:ext>
            </a:extLst>
          </p:cNvPr>
          <p:cNvSpPr txBox="1"/>
          <p:nvPr/>
        </p:nvSpPr>
        <p:spPr>
          <a:xfrm>
            <a:off x="793315" y="1602288"/>
            <a:ext cx="3716056" cy="261610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>
                <a:solidFill>
                  <a:srgbClr val="000000"/>
                </a:solidFill>
                <a:latin typeface="Times New Roman"/>
                <a:cs typeface="Times New Roman"/>
              </a:rPr>
              <a:t>Necklaces</a:t>
            </a:r>
          </a:p>
          <a:p>
            <a:pPr algn="just"/>
            <a:br>
              <a:rPr lang="en-US" dirty="0">
                <a:solidFill>
                  <a:srgbClr val="000000"/>
                </a:solidFill>
                <a:latin typeface="Times New Roman"/>
                <a:cs typeface="Times New Roman"/>
              </a:rPr>
            </a:br>
            <a:r>
              <a:rPr lang="en-US" dirty="0">
                <a:solidFill>
                  <a:srgbClr val="000000"/>
                </a:solidFill>
                <a:latin typeface="Times New Roman"/>
                <a:cs typeface="Times New Roman"/>
              </a:rPr>
              <a:t>Delicate necklaces designed for effortless everyday elegance. From minimalist pendants to subtle chains, each piece is crafted to complement your daily style with quiet sophistication.</a:t>
            </a:r>
          </a:p>
          <a:p>
            <a:pPr algn="ctr"/>
            <a:endParaRPr lang="en-US" dirty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98D4344-B471-A5AD-75BE-5741B48E0623}"/>
              </a:ext>
            </a:extLst>
          </p:cNvPr>
          <p:cNvSpPr txBox="1"/>
          <p:nvPr/>
        </p:nvSpPr>
        <p:spPr>
          <a:xfrm>
            <a:off x="4509369" y="3575137"/>
            <a:ext cx="3267206" cy="233910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>
                <a:solidFill>
                  <a:srgbClr val="000000"/>
                </a:solidFill>
                <a:latin typeface="Times New Roman"/>
                <a:cs typeface="Times New Roman"/>
              </a:rPr>
              <a:t>Bracelets</a:t>
            </a:r>
          </a:p>
          <a:p>
            <a:pPr algn="just"/>
            <a:br>
              <a:rPr lang="en-US" dirty="0">
                <a:solidFill>
                  <a:srgbClr val="000000"/>
                </a:solidFill>
                <a:latin typeface="Times New Roman"/>
                <a:cs typeface="Times New Roman"/>
              </a:rPr>
            </a:br>
            <a:r>
              <a:rPr lang="en-US" dirty="0">
                <a:solidFill>
                  <a:srgbClr val="000000"/>
                </a:solidFill>
                <a:latin typeface="Times New Roman"/>
                <a:cs typeface="Times New Roman"/>
              </a:rPr>
              <a:t>Lightweight bracelets that add a refined touch to your everyday look. Designed for comfort and subtle beauty, these pieces layer beautifully or shine on their own.</a:t>
            </a:r>
          </a:p>
          <a:p>
            <a:pPr algn="ctr"/>
            <a:endParaRPr lang="en-US" dirty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A16572-CE53-1E3F-364E-A48CB5318A0E}"/>
              </a:ext>
            </a:extLst>
          </p:cNvPr>
          <p:cNvSpPr txBox="1"/>
          <p:nvPr/>
        </p:nvSpPr>
        <p:spPr>
          <a:xfrm>
            <a:off x="7776574" y="1602289"/>
            <a:ext cx="3517727" cy="233910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>
                <a:solidFill>
                  <a:srgbClr val="000000"/>
                </a:solidFill>
                <a:latin typeface="Times New Roman"/>
                <a:cs typeface="Times New Roman"/>
              </a:rPr>
              <a:t>Earrings</a:t>
            </a:r>
          </a:p>
          <a:p>
            <a:pPr algn="just"/>
            <a:br>
              <a:rPr lang="en-US" dirty="0">
                <a:solidFill>
                  <a:srgbClr val="000000"/>
                </a:solidFill>
                <a:latin typeface="Times New Roman"/>
                <a:cs typeface="Times New Roman"/>
              </a:rPr>
            </a:br>
            <a:r>
              <a:rPr lang="en-US" dirty="0">
                <a:solidFill>
                  <a:srgbClr val="000000"/>
                </a:solidFill>
                <a:latin typeface="Times New Roman"/>
                <a:cs typeface="Times New Roman"/>
              </a:rPr>
              <a:t>Elegant earrings that elevate your everyday styling. From delicate studs to minimalist hoops, each pair is designed to bring effortless charm to any outfit.</a:t>
            </a:r>
          </a:p>
          <a:p>
            <a:pPr algn="ctr"/>
            <a:endParaRPr lang="en-US" dirty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pic>
        <p:nvPicPr>
          <p:cNvPr id="8" name="Picture 7" descr="A gold chain with pearls on it&#10;&#10;AI-generated content may be incorrect.">
            <a:extLst>
              <a:ext uri="{FF2B5EF4-FFF2-40B4-BE49-F238E27FC236}">
                <a16:creationId xmlns:a16="http://schemas.microsoft.com/office/drawing/2014/main" id="{DEE2225E-AF73-B776-A147-41654B00C4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6232" y="1596415"/>
            <a:ext cx="2312357" cy="1828019"/>
          </a:xfrm>
          <a:prstGeom prst="rect">
            <a:avLst/>
          </a:prstGeom>
        </p:spPr>
      </p:pic>
      <p:pic>
        <p:nvPicPr>
          <p:cNvPr id="10" name="Picture 9" descr="A pair of gold earrings with pearls&#10;&#10;AI-generated content may be incorrect.">
            <a:extLst>
              <a:ext uri="{FF2B5EF4-FFF2-40B4-BE49-F238E27FC236}">
                <a16:creationId xmlns:a16="http://schemas.microsoft.com/office/drawing/2014/main" id="{2AE3A163-0D49-84CA-B372-60EFC4C6F5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5459" y="4026792"/>
            <a:ext cx="2695575" cy="1904608"/>
          </a:xfrm>
          <a:prstGeom prst="rect">
            <a:avLst/>
          </a:prstGeom>
        </p:spPr>
      </p:pic>
      <p:pic>
        <p:nvPicPr>
          <p:cNvPr id="12" name="Picture 11" descr="A gold heart necklace on a chain&#10;&#10;AI-generated content may be incorrect.">
            <a:extLst>
              <a:ext uri="{FF2B5EF4-FFF2-40B4-BE49-F238E27FC236}">
                <a16:creationId xmlns:a16="http://schemas.microsoft.com/office/drawing/2014/main" id="{E1E0A36F-C44C-2FE0-36FA-B27C40DCD7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8290" y="4095292"/>
            <a:ext cx="2526736" cy="1746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83134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B299CAB-C506-454B-90FC-4065728297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8D99311-F254-40F1-8AB5-EE3E7B9B68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800" y="685800"/>
            <a:ext cx="10820400" cy="175857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37FF40-6E39-52D7-A612-559918538B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2183" y="-93982"/>
            <a:ext cx="8959893" cy="1004836"/>
          </a:xfrm>
        </p:spPr>
        <p:txBody>
          <a:bodyPr anchor="ctr">
            <a:normAutofit/>
          </a:bodyPr>
          <a:lstStyle/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 1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D89E3CB-00ED-4691-9F0F-F23EA35647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016" y="2444376"/>
            <a:ext cx="10824184" cy="3727824"/>
          </a:xfrm>
          <a:prstGeom prst="rect">
            <a:avLst/>
          </a:prstGeom>
          <a:solidFill>
            <a:schemeClr val="accent2">
              <a:lumMod val="20000"/>
              <a:lumOff val="80000"/>
              <a:alpha val="5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252FF70-CF16-FB9A-A228-9D3427B63B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30" t="4273" r="7431" b="5180"/>
          <a:stretch>
            <a:fillRect/>
          </a:stretch>
        </p:blipFill>
        <p:spPr>
          <a:xfrm>
            <a:off x="1604129" y="685800"/>
            <a:ext cx="8636000" cy="5684520"/>
          </a:xfrm>
        </p:spPr>
      </p:pic>
    </p:spTree>
    <p:extLst>
      <p:ext uri="{BB962C8B-B14F-4D97-AF65-F5344CB8AC3E}">
        <p14:creationId xmlns:p14="http://schemas.microsoft.com/office/powerpoint/2010/main" val="8464174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BA75568-CD85-3284-D384-9136433738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8DEA62B-4F9D-7B66-BB52-AA596C9FCC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F8D70D6-2648-11E1-FDE3-27FF717E95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800" y="685800"/>
            <a:ext cx="10820400" cy="175857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0656E1-A603-F7FA-8F8E-080F03E2BF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9693" y="0"/>
            <a:ext cx="8959893" cy="1004836"/>
          </a:xfrm>
        </p:spPr>
        <p:txBody>
          <a:bodyPr anchor="ctr">
            <a:normAutofit/>
          </a:bodyPr>
          <a:lstStyle/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 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8AC3E61-EEB1-B5E1-5975-ABDAFBDD68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016" y="2444376"/>
            <a:ext cx="10824184" cy="3727824"/>
          </a:xfrm>
          <a:prstGeom prst="rect">
            <a:avLst/>
          </a:prstGeom>
          <a:solidFill>
            <a:schemeClr val="accent2">
              <a:lumMod val="20000"/>
              <a:lumOff val="80000"/>
              <a:alpha val="5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0A3CD79-31D2-98C5-723D-036D66A392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30" t="3920" r="8875" b="6101"/>
          <a:stretch>
            <a:fillRect/>
          </a:stretch>
        </p:blipFill>
        <p:spPr>
          <a:xfrm>
            <a:off x="1664006" y="685800"/>
            <a:ext cx="8691266" cy="5527040"/>
          </a:xfrm>
        </p:spPr>
      </p:pic>
    </p:spTree>
    <p:extLst>
      <p:ext uri="{BB962C8B-B14F-4D97-AF65-F5344CB8AC3E}">
        <p14:creationId xmlns:p14="http://schemas.microsoft.com/office/powerpoint/2010/main" val="6900077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91A1FA41-E1D1-43CF-8B3B-5E61408908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CC2D84B-6969-4F00-BEBA-81C2EBCD32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6095999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0D282BE-4461-4794-89A5-394723CDF2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71600" y="1371601"/>
            <a:ext cx="3354572" cy="41147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67D1D1-9ABF-3640-6899-53AC8FF2C8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8115" y="1808855"/>
            <a:ext cx="2552956" cy="324029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400" b="1" kern="1200" dirty="0">
                <a:latin typeface="Times New Roman"/>
                <a:cs typeface="Times New Roman"/>
              </a:rPr>
              <a:t>COMPETITOR ANALYSIS &amp; DIGITAL INSIGHTS</a:t>
            </a:r>
            <a:endParaRPr lang="en-US" sz="2400" kern="1200" dirty="0">
              <a:latin typeface="Times New Roman"/>
              <a:cs typeface="Times New Roman"/>
            </a:endParaRPr>
          </a:p>
          <a:p>
            <a:pPr algn="ctr"/>
            <a:endParaRPr lang="en-US" sz="2400" kern="1200" dirty="0">
              <a:solidFill>
                <a:schemeClr val="tx1">
                  <a:lumMod val="65000"/>
                  <a:lumOff val="35000"/>
                </a:schemeClr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E67DF53-0F0F-2AB8-691E-2AA1105F7C72}"/>
              </a:ext>
            </a:extLst>
          </p:cNvPr>
          <p:cNvSpPr txBox="1"/>
          <p:nvPr/>
        </p:nvSpPr>
        <p:spPr>
          <a:xfrm>
            <a:off x="6593840" y="670560"/>
            <a:ext cx="5334000" cy="5750560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 fontScale="92500" lnSpcReduction="1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we examined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Digital product communication of GIVA and Salty, two leading players in the contemporary jewelry space.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Apify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helped validate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Apify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analysed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competitor category pages to understand how these brands present products, value, and usage digitally.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 from analysis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Both brands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emphasise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product variety, quality assurance, and promotional cues, with limited focus on everyday lifestyle storytelling.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Gap identified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Everyday, repeat-wear jewelry is communicated functionally, not emotionally.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Nymphora’s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opportunity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Nymphora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positions itself as an everyday-first, minimalist jewelry brand that builds habit and emotional relevance beyond one-time purchases.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dirty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61778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27D7A02-907B-496F-BA7E-AA3780733C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FBA5268-0AE7-4CAD-9537-D0EB09E764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88D065B-39DA-4077-B9CF-E489CE4C01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800" y="685800"/>
            <a:ext cx="10820400" cy="5486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37C698-DAC4-D653-07F8-FCE5DE6B07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05409" y="67615"/>
            <a:ext cx="6884895" cy="589071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APIFY SCREENSHOT</a:t>
            </a:r>
            <a:endParaRPr lang="en-US" sz="3200" kern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958F3DD-B07A-594C-638F-D3255C868D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285"/>
          <a:stretch>
            <a:fillRect/>
          </a:stretch>
        </p:blipFill>
        <p:spPr>
          <a:xfrm>
            <a:off x="299720" y="628588"/>
            <a:ext cx="6555091" cy="579253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2E7DEE8-419F-B6D8-30A3-6A248FB5BB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6707"/>
          <a:stretch>
            <a:fillRect/>
          </a:stretch>
        </p:blipFill>
        <p:spPr>
          <a:xfrm>
            <a:off x="5287696" y="628588"/>
            <a:ext cx="6904304" cy="209061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1456451-0E99-08DD-51D9-E14875B176E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151" r="1554" b="37241"/>
          <a:stretch>
            <a:fillRect/>
          </a:stretch>
        </p:blipFill>
        <p:spPr>
          <a:xfrm>
            <a:off x="5334000" y="2542137"/>
            <a:ext cx="6904304" cy="228144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2AEC3D7-B614-C3A1-83FA-7C9F137BAF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4000" y="4515458"/>
            <a:ext cx="6858000" cy="1998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60691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27D7A02-907B-496F-BA7E-AA3780733C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FBA5268-0AE7-4CAD-9537-D0EB09E764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88D065B-39DA-4077-B9CF-E489CE4C01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800" y="685800"/>
            <a:ext cx="10820400" cy="5486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2E6D172-0254-8CBA-774A-B85D0EF497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684" y="2821050"/>
            <a:ext cx="3688295" cy="1328724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MARKETING FUNNEL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872" name="Diagram 1871">
            <a:extLst>
              <a:ext uri="{FF2B5EF4-FFF2-40B4-BE49-F238E27FC236}">
                <a16:creationId xmlns:a16="http://schemas.microsoft.com/office/drawing/2014/main" id="{0CBC69DF-B777-3C06-1F7E-90C0E7610D9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63710485"/>
              </p:ext>
            </p:extLst>
          </p:nvPr>
        </p:nvGraphicFramePr>
        <p:xfrm>
          <a:off x="3938625" y="820058"/>
          <a:ext cx="7567192" cy="53460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885446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B299CAB-C506-454B-90FC-4065728297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8D99311-F254-40F1-8AB5-EE3E7B9B68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800" y="685800"/>
            <a:ext cx="10820400" cy="175857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0122D5-0BEB-0735-4D10-153E0E7128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6054" y="1070149"/>
            <a:ext cx="8959893" cy="1004836"/>
          </a:xfrm>
        </p:spPr>
        <p:txBody>
          <a:bodyPr anchor="ctr">
            <a:normAutofit/>
          </a:bodyPr>
          <a:lstStyle/>
          <a:p>
            <a:pPr algn="ctr"/>
            <a:r>
              <a:rPr lang="en-US" sz="3600" b="1" dirty="0">
                <a:solidFill>
                  <a:srgbClr val="000000"/>
                </a:solidFill>
                <a:latin typeface="Times New Roman"/>
                <a:cs typeface="Times New Roman"/>
              </a:rPr>
              <a:t>POEM Framework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D89E3CB-00ED-4691-9F0F-F23EA35647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016" y="2444376"/>
            <a:ext cx="10824184" cy="3727824"/>
          </a:xfrm>
          <a:prstGeom prst="rect">
            <a:avLst/>
          </a:prstGeom>
          <a:solidFill>
            <a:schemeClr val="accent2">
              <a:lumMod val="20000"/>
              <a:lumOff val="80000"/>
              <a:alpha val="5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C45E1B9-0A26-5309-9BA3-5B70E770BCC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76870561"/>
              </p:ext>
            </p:extLst>
          </p:nvPr>
        </p:nvGraphicFramePr>
        <p:xfrm>
          <a:off x="1387287" y="2554005"/>
          <a:ext cx="9641541" cy="351089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009451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58875A-1BA3-DE60-9812-F5D42EF06C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FF3518C-FC0B-4B73-2246-B2C9088B2A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92F936C-7F4E-E5BF-0734-6BBE378199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DCA2B6D-5793-4392-15A4-CD2E85D56F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800" y="685800"/>
            <a:ext cx="10820400" cy="5486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F57CE87-DA05-6581-70A7-DEE57E370F9F}"/>
              </a:ext>
            </a:extLst>
          </p:cNvPr>
          <p:cNvSpPr txBox="1"/>
          <p:nvPr/>
        </p:nvSpPr>
        <p:spPr>
          <a:xfrm>
            <a:off x="2773342" y="1021210"/>
            <a:ext cx="7602497" cy="5232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 b="1" dirty="0">
                <a:latin typeface="Times New Roman"/>
                <a:ea typeface="+mn-lt"/>
                <a:cs typeface="Times New Roman"/>
              </a:rPr>
              <a:t>Lead Magnet &amp; Nurturing Strategy</a:t>
            </a:r>
            <a:endParaRPr lang="en-US" sz="2800" b="1" dirty="0">
              <a:latin typeface="Times New Roman"/>
              <a:cs typeface="Times New Roman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7060A53-BF0C-1B44-13A1-BAE9703E3AFC}"/>
              </a:ext>
            </a:extLst>
          </p:cNvPr>
          <p:cNvSpPr txBox="1"/>
          <p:nvPr/>
        </p:nvSpPr>
        <p:spPr>
          <a:xfrm>
            <a:off x="1017166" y="1715180"/>
            <a:ext cx="4934842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>
                <a:latin typeface="Times New Roman"/>
                <a:ea typeface="+mn-lt"/>
                <a:cs typeface="Times New Roman"/>
              </a:rPr>
              <a:t>Lead Magnet </a:t>
            </a:r>
            <a:endParaRPr lang="en-US" sz="2400" b="1" dirty="0">
              <a:latin typeface="Times New Roman"/>
              <a:cs typeface="Times New Roman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1B63ED9-5340-8925-E884-7DDD0BB94F88}"/>
              </a:ext>
            </a:extLst>
          </p:cNvPr>
          <p:cNvSpPr txBox="1"/>
          <p:nvPr/>
        </p:nvSpPr>
        <p:spPr>
          <a:xfrm>
            <a:off x="1022066" y="2343211"/>
            <a:ext cx="4939331" cy="34163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Times New Roman"/>
                <a:cs typeface="Times New Roman"/>
              </a:rPr>
              <a:t>To encourage first interaction and email signup, </a:t>
            </a:r>
            <a:r>
              <a:rPr lang="en-US" dirty="0" err="1">
                <a:latin typeface="Times New Roman"/>
                <a:cs typeface="Times New Roman"/>
              </a:rPr>
              <a:t>Nymphora</a:t>
            </a:r>
            <a:r>
              <a:rPr lang="en-US" dirty="0">
                <a:latin typeface="Times New Roman"/>
                <a:cs typeface="Times New Roman"/>
              </a:rPr>
              <a:t> offers value-driven incentives that align with the brand’s everyday elegance positioning.</a:t>
            </a:r>
          </a:p>
          <a:p>
            <a:r>
              <a:rPr lang="en-US" dirty="0">
                <a:latin typeface="Times New Roman"/>
                <a:ea typeface="+mn-lt"/>
                <a:cs typeface="Times New Roman"/>
              </a:rPr>
              <a:t>• </a:t>
            </a:r>
            <a:r>
              <a:rPr lang="en-US" b="1" dirty="0">
                <a:latin typeface="Times New Roman"/>
                <a:ea typeface="+mn-lt"/>
                <a:cs typeface="Times New Roman"/>
              </a:rPr>
              <a:t>Complimentary Jewelry Care Kit</a:t>
            </a:r>
            <a:r>
              <a:rPr lang="en-US" dirty="0">
                <a:latin typeface="Times New Roman"/>
                <a:ea typeface="+mn-lt"/>
                <a:cs typeface="Times New Roman"/>
              </a:rPr>
              <a:t> with first purchase to promote long-term product use</a:t>
            </a:r>
            <a:br>
              <a:rPr lang="en-US" dirty="0">
                <a:latin typeface="Times New Roman"/>
                <a:ea typeface="+mn-lt"/>
                <a:cs typeface="Times New Roman"/>
              </a:rPr>
            </a:br>
            <a:r>
              <a:rPr lang="en-US" dirty="0">
                <a:latin typeface="Times New Roman"/>
                <a:ea typeface="+mn-lt"/>
                <a:cs typeface="Times New Roman"/>
              </a:rPr>
              <a:t> • </a:t>
            </a:r>
            <a:r>
              <a:rPr lang="en-US" b="1" dirty="0">
                <a:latin typeface="Times New Roman"/>
                <a:ea typeface="+mn-lt"/>
                <a:cs typeface="Times New Roman"/>
              </a:rPr>
              <a:t>Birthday Reward</a:t>
            </a:r>
            <a:r>
              <a:rPr lang="en-US" dirty="0">
                <a:latin typeface="Times New Roman"/>
                <a:ea typeface="+mn-lt"/>
                <a:cs typeface="Times New Roman"/>
              </a:rPr>
              <a:t> – special discount or small surprise gift during the customer’s birthday month</a:t>
            </a:r>
            <a:br>
              <a:rPr lang="en-US" dirty="0">
                <a:latin typeface="Times New Roman"/>
                <a:ea typeface="+mn-lt"/>
                <a:cs typeface="Times New Roman"/>
              </a:rPr>
            </a:br>
            <a:r>
              <a:rPr lang="en-US" dirty="0">
                <a:latin typeface="Times New Roman"/>
                <a:ea typeface="+mn-lt"/>
                <a:cs typeface="Times New Roman"/>
              </a:rPr>
              <a:t> • </a:t>
            </a:r>
            <a:r>
              <a:rPr lang="en-US" b="1" dirty="0">
                <a:latin typeface="Times New Roman"/>
                <a:ea typeface="+mn-lt"/>
                <a:cs typeface="Times New Roman"/>
              </a:rPr>
              <a:t>Referral Benefit</a:t>
            </a:r>
            <a:r>
              <a:rPr lang="en-US" dirty="0">
                <a:latin typeface="Times New Roman"/>
                <a:ea typeface="+mn-lt"/>
                <a:cs typeface="Times New Roman"/>
              </a:rPr>
              <a:t> – customers receive a reward when they refer a friend who makes a purchase</a:t>
            </a:r>
            <a:br>
              <a:rPr lang="en-US" dirty="0">
                <a:latin typeface="Times New Roman"/>
                <a:ea typeface="+mn-lt"/>
                <a:cs typeface="Times New Roman"/>
              </a:rPr>
            </a:br>
            <a:r>
              <a:rPr lang="en-US" dirty="0">
                <a:latin typeface="Times New Roman"/>
                <a:ea typeface="+mn-lt"/>
                <a:cs typeface="Times New Roman"/>
              </a:rPr>
              <a:t> • </a:t>
            </a:r>
            <a:r>
              <a:rPr lang="en-US" b="1" dirty="0">
                <a:latin typeface="Times New Roman"/>
                <a:ea typeface="+mn-lt"/>
                <a:cs typeface="Times New Roman"/>
              </a:rPr>
              <a:t>Early Access to New Collections</a:t>
            </a:r>
            <a:r>
              <a:rPr lang="en-US" dirty="0">
                <a:latin typeface="Times New Roman"/>
                <a:ea typeface="+mn-lt"/>
                <a:cs typeface="Times New Roman"/>
              </a:rPr>
              <a:t> for subscribers before public launch</a:t>
            </a:r>
            <a:endParaRPr lang="en-US" dirty="0">
              <a:latin typeface="Times New Roman"/>
              <a:cs typeface="Times New Roman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94595BD-56AC-D0FE-7794-9826548EB73C}"/>
              </a:ext>
            </a:extLst>
          </p:cNvPr>
          <p:cNvSpPr txBox="1"/>
          <p:nvPr/>
        </p:nvSpPr>
        <p:spPr>
          <a:xfrm>
            <a:off x="6090975" y="1940984"/>
            <a:ext cx="4934842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>
                <a:latin typeface="Times New Roman"/>
                <a:ea typeface="+mn-lt"/>
                <a:cs typeface="Times New Roman"/>
              </a:rPr>
              <a:t>Customer Nurturing Strategy</a:t>
            </a:r>
            <a:endParaRPr lang="en-US" sz="2400" b="1" dirty="0">
              <a:latin typeface="Times New Roman"/>
              <a:cs typeface="Times New Roman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EC06019-1E4B-5F57-86AA-E5F6E50FEFDA}"/>
              </a:ext>
            </a:extLst>
          </p:cNvPr>
          <p:cNvSpPr txBox="1"/>
          <p:nvPr/>
        </p:nvSpPr>
        <p:spPr>
          <a:xfrm>
            <a:off x="6084668" y="2614607"/>
            <a:ext cx="4939331" cy="34163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Times New Roman"/>
                <a:ea typeface="+mn-lt"/>
                <a:cs typeface="Times New Roman"/>
              </a:rPr>
              <a:t>To build long-term engagement and repeat purchases, </a:t>
            </a:r>
            <a:r>
              <a:rPr lang="en-US" dirty="0" err="1">
                <a:latin typeface="Times New Roman"/>
                <a:ea typeface="+mn-lt"/>
                <a:cs typeface="Times New Roman"/>
              </a:rPr>
              <a:t>Nymphora</a:t>
            </a:r>
            <a:r>
              <a:rPr lang="en-US" dirty="0">
                <a:latin typeface="Times New Roman"/>
                <a:ea typeface="+mn-lt"/>
                <a:cs typeface="Times New Roman"/>
              </a:rPr>
              <a:t> focuses on relationship-based communication.</a:t>
            </a:r>
          </a:p>
          <a:p>
            <a:r>
              <a:rPr lang="en-US" dirty="0">
                <a:latin typeface="Times New Roman"/>
                <a:ea typeface="+mn-lt"/>
                <a:cs typeface="Times New Roman"/>
              </a:rPr>
              <a:t>• </a:t>
            </a:r>
            <a:r>
              <a:rPr lang="en-US" b="1" dirty="0">
                <a:latin typeface="Times New Roman"/>
                <a:ea typeface="+mn-lt"/>
                <a:cs typeface="Times New Roman"/>
              </a:rPr>
              <a:t>Email newsletters</a:t>
            </a:r>
            <a:r>
              <a:rPr lang="en-US" dirty="0">
                <a:latin typeface="Times New Roman"/>
                <a:ea typeface="+mn-lt"/>
                <a:cs typeface="Times New Roman"/>
              </a:rPr>
              <a:t> with styling inspiration and minimalist fashion tips</a:t>
            </a:r>
            <a:br>
              <a:rPr lang="en-US" dirty="0">
                <a:latin typeface="Times New Roman"/>
                <a:ea typeface="+mn-lt"/>
                <a:cs typeface="Times New Roman"/>
              </a:rPr>
            </a:br>
            <a:r>
              <a:rPr lang="en-US" dirty="0">
                <a:latin typeface="Times New Roman"/>
                <a:ea typeface="+mn-lt"/>
                <a:cs typeface="Times New Roman"/>
              </a:rPr>
              <a:t> • </a:t>
            </a:r>
            <a:r>
              <a:rPr lang="en-US" b="1" dirty="0">
                <a:latin typeface="Times New Roman"/>
                <a:ea typeface="+mn-lt"/>
                <a:cs typeface="Times New Roman"/>
              </a:rPr>
              <a:t>Styling inspiration sections on the website</a:t>
            </a:r>
            <a:r>
              <a:rPr lang="en-US" dirty="0">
                <a:latin typeface="Times New Roman"/>
                <a:ea typeface="+mn-lt"/>
                <a:cs typeface="Times New Roman"/>
              </a:rPr>
              <a:t> showing how jewelry complements everyday outfits</a:t>
            </a:r>
            <a:br>
              <a:rPr lang="en-US" dirty="0">
                <a:latin typeface="Times New Roman"/>
                <a:ea typeface="+mn-lt"/>
                <a:cs typeface="Times New Roman"/>
              </a:rPr>
            </a:br>
            <a:r>
              <a:rPr lang="en-US" dirty="0">
                <a:latin typeface="Times New Roman"/>
                <a:ea typeface="+mn-lt"/>
                <a:cs typeface="Times New Roman"/>
              </a:rPr>
              <a:t> • </a:t>
            </a:r>
            <a:r>
              <a:rPr lang="en-US" b="1" dirty="0" err="1">
                <a:latin typeface="Times New Roman"/>
                <a:ea typeface="+mn-lt"/>
                <a:cs typeface="Times New Roman"/>
              </a:rPr>
              <a:t>Personalised</a:t>
            </a:r>
            <a:r>
              <a:rPr lang="en-US" b="1" dirty="0">
                <a:latin typeface="Times New Roman"/>
                <a:ea typeface="+mn-lt"/>
                <a:cs typeface="Times New Roman"/>
              </a:rPr>
              <a:t> product recommendations</a:t>
            </a:r>
            <a:r>
              <a:rPr lang="en-US" dirty="0">
                <a:latin typeface="Times New Roman"/>
                <a:ea typeface="+mn-lt"/>
                <a:cs typeface="Times New Roman"/>
              </a:rPr>
              <a:t> based on browsing or purchase </a:t>
            </a:r>
            <a:r>
              <a:rPr lang="en-US" dirty="0" err="1">
                <a:latin typeface="Times New Roman"/>
                <a:ea typeface="+mn-lt"/>
                <a:cs typeface="Times New Roman"/>
              </a:rPr>
              <a:t>behaviour</a:t>
            </a:r>
            <a:br>
              <a:rPr lang="en-US" dirty="0">
                <a:latin typeface="Times New Roman"/>
                <a:ea typeface="+mn-lt"/>
                <a:cs typeface="Times New Roman"/>
              </a:rPr>
            </a:br>
            <a:r>
              <a:rPr lang="en-US" dirty="0">
                <a:latin typeface="Times New Roman"/>
                <a:ea typeface="+mn-lt"/>
                <a:cs typeface="Times New Roman"/>
              </a:rPr>
              <a:t> • </a:t>
            </a:r>
            <a:r>
              <a:rPr lang="en-US" b="1" dirty="0">
                <a:latin typeface="Times New Roman"/>
                <a:ea typeface="+mn-lt"/>
                <a:cs typeface="Times New Roman"/>
              </a:rPr>
              <a:t>Exclusive collection previews and launch notifications</a:t>
            </a:r>
            <a:endParaRPr lang="en-US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6542927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E3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267ECD-3FD4-8959-ED3C-6B11F2342B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0656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latin typeface="Times New Roman"/>
                <a:ea typeface="+mj-lt"/>
                <a:cs typeface="Times New Roman"/>
              </a:rPr>
              <a:t>SEO Blog Strategy</a:t>
            </a:r>
            <a:endParaRPr lang="en-US" b="1">
              <a:latin typeface="Times New Roman"/>
              <a:cs typeface="Times New Roman"/>
            </a:endParaRPr>
          </a:p>
        </p:txBody>
      </p:sp>
      <p:pic>
        <p:nvPicPr>
          <p:cNvPr id="9" name="Picture 8" descr="A screenshot of a phone&#10;&#10;AI-generated content may be incorrect.">
            <a:extLst>
              <a:ext uri="{FF2B5EF4-FFF2-40B4-BE49-F238E27FC236}">
                <a16:creationId xmlns:a16="http://schemas.microsoft.com/office/drawing/2014/main" id="{10F6AF9D-08E3-27BC-E921-36288FF270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339" y="1315819"/>
            <a:ext cx="3681349" cy="4215922"/>
          </a:xfrm>
          <a:prstGeom prst="rect">
            <a:avLst/>
          </a:prstGeom>
        </p:spPr>
      </p:pic>
      <p:pic>
        <p:nvPicPr>
          <p:cNvPr id="10" name="Picture 9" descr="A screenshot of a phone&#10;&#10;AI-generated content may be incorrect.">
            <a:extLst>
              <a:ext uri="{FF2B5EF4-FFF2-40B4-BE49-F238E27FC236}">
                <a16:creationId xmlns:a16="http://schemas.microsoft.com/office/drawing/2014/main" id="{50E47B4B-8761-B91A-86AE-B93107184F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3225" y="1317647"/>
            <a:ext cx="3666343" cy="4212269"/>
          </a:xfrm>
          <a:prstGeom prst="rect">
            <a:avLst/>
          </a:prstGeom>
        </p:spPr>
      </p:pic>
      <p:pic>
        <p:nvPicPr>
          <p:cNvPr id="11" name="Picture 10" descr="A screenshot of a jewelry&#10;&#10;AI-generated content may be incorrect.">
            <a:extLst>
              <a:ext uri="{FF2B5EF4-FFF2-40B4-BE49-F238E27FC236}">
                <a16:creationId xmlns:a16="http://schemas.microsoft.com/office/drawing/2014/main" id="{97B9DC28-A2A9-7164-612E-FCAF802958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1200" y="1320387"/>
            <a:ext cx="3675737" cy="4206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23611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E6EF81-FA9A-C133-6027-F69143AD72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0E91F5CA-B392-444C-88E3-BF5BAAEBDE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459807F-B6FA-44D3-9A53-C55B6B5688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080681"/>
            <a:ext cx="12192000" cy="2777318"/>
          </a:xfrm>
          <a:prstGeom prst="rect">
            <a:avLst/>
          </a:prstGeom>
          <a:solidFill>
            <a:srgbClr val="FBE3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E5930A-7A5C-4059-F7F1-13044833B9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5060" y="5279511"/>
            <a:ext cx="9681882" cy="73988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Our Website</a:t>
            </a:r>
          </a:p>
        </p:txBody>
      </p:sp>
      <p:pic>
        <p:nvPicPr>
          <p:cNvPr id="16" name="Picture 15" descr="A close up of a necklace&#10;&#10;AI-generated content may be incorrect.">
            <a:hlinkClick r:id="rId3"/>
            <a:extLst>
              <a:ext uri="{FF2B5EF4-FFF2-40B4-BE49-F238E27FC236}">
                <a16:creationId xmlns:a16="http://schemas.microsoft.com/office/drawing/2014/main" id="{FEC525B0-CADC-0E40-24F6-8696BB617FF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1966"/>
          <a:stretch>
            <a:fillRect/>
          </a:stretch>
        </p:blipFill>
        <p:spPr>
          <a:xfrm>
            <a:off x="20" y="10"/>
            <a:ext cx="12191979" cy="5886523"/>
          </a:xfrm>
          <a:custGeom>
            <a:avLst/>
            <a:gdLst/>
            <a:ahLst/>
            <a:cxnLst/>
            <a:rect l="l" t="t" r="r" b="b"/>
            <a:pathLst>
              <a:path w="12191999" h="5886533">
                <a:moveTo>
                  <a:pt x="4721173" y="4907914"/>
                </a:moveTo>
                <a:lnTo>
                  <a:pt x="4722109" y="4908125"/>
                </a:lnTo>
                <a:cubicBezTo>
                  <a:pt x="4721143" y="4908767"/>
                  <a:pt x="4718263" y="4909373"/>
                  <a:pt x="4717199" y="4909396"/>
                </a:cubicBezTo>
                <a:close/>
                <a:moveTo>
                  <a:pt x="0" y="0"/>
                </a:moveTo>
                <a:lnTo>
                  <a:pt x="12191999" y="0"/>
                </a:lnTo>
                <a:lnTo>
                  <a:pt x="12191999" y="5751311"/>
                </a:lnTo>
                <a:lnTo>
                  <a:pt x="12140860" y="5770509"/>
                </a:lnTo>
                <a:cubicBezTo>
                  <a:pt x="12126656" y="5772723"/>
                  <a:pt x="12093589" y="5827925"/>
                  <a:pt x="12080161" y="5826358"/>
                </a:cubicBezTo>
                <a:cubicBezTo>
                  <a:pt x="11978188" y="5850511"/>
                  <a:pt x="11967361" y="5873564"/>
                  <a:pt x="11917885" y="5861578"/>
                </a:cubicBezTo>
                <a:cubicBezTo>
                  <a:pt x="11872779" y="5859863"/>
                  <a:pt x="11928861" y="5896778"/>
                  <a:pt x="11894610" y="5883738"/>
                </a:cubicBezTo>
                <a:cubicBezTo>
                  <a:pt x="11860359" y="5870698"/>
                  <a:pt x="11736091" y="5807232"/>
                  <a:pt x="11712379" y="5783337"/>
                </a:cubicBezTo>
                <a:cubicBezTo>
                  <a:pt x="11688667" y="5759442"/>
                  <a:pt x="11627912" y="5782933"/>
                  <a:pt x="11585366" y="5740371"/>
                </a:cubicBezTo>
                <a:lnTo>
                  <a:pt x="11516470" y="5663679"/>
                </a:lnTo>
                <a:cubicBezTo>
                  <a:pt x="11468274" y="5661847"/>
                  <a:pt x="11507335" y="5626593"/>
                  <a:pt x="11462692" y="5610127"/>
                </a:cubicBezTo>
                <a:cubicBezTo>
                  <a:pt x="11417567" y="5608500"/>
                  <a:pt x="11408021" y="5556613"/>
                  <a:pt x="11369712" y="5548654"/>
                </a:cubicBezTo>
                <a:cubicBezTo>
                  <a:pt x="11354317" y="5554704"/>
                  <a:pt x="11288328" y="5499810"/>
                  <a:pt x="11273969" y="5488986"/>
                </a:cubicBezTo>
                <a:cubicBezTo>
                  <a:pt x="11231913" y="5490378"/>
                  <a:pt x="11221973" y="5480544"/>
                  <a:pt x="11195084" y="5467967"/>
                </a:cubicBezTo>
                <a:cubicBezTo>
                  <a:pt x="11164086" y="5497749"/>
                  <a:pt x="11171649" y="5471790"/>
                  <a:pt x="11143408" y="5468614"/>
                </a:cubicBezTo>
                <a:cubicBezTo>
                  <a:pt x="11125906" y="5464975"/>
                  <a:pt x="11102603" y="5460835"/>
                  <a:pt x="11085935" y="5459365"/>
                </a:cubicBezTo>
                <a:cubicBezTo>
                  <a:pt x="11057493" y="5459661"/>
                  <a:pt x="11029906" y="5441496"/>
                  <a:pt x="11030953" y="5456484"/>
                </a:cubicBezTo>
                <a:cubicBezTo>
                  <a:pt x="11007784" y="5459001"/>
                  <a:pt x="10982005" y="5463178"/>
                  <a:pt x="10951060" y="5461240"/>
                </a:cubicBezTo>
                <a:cubicBezTo>
                  <a:pt x="10885365" y="5424406"/>
                  <a:pt x="10915288" y="5460968"/>
                  <a:pt x="10857721" y="5448157"/>
                </a:cubicBezTo>
                <a:cubicBezTo>
                  <a:pt x="10806646" y="5435790"/>
                  <a:pt x="10707075" y="5402712"/>
                  <a:pt x="10644616" y="5387039"/>
                </a:cubicBezTo>
                <a:cubicBezTo>
                  <a:pt x="10616446" y="5382224"/>
                  <a:pt x="10558603" y="5371613"/>
                  <a:pt x="10519277" y="5366793"/>
                </a:cubicBezTo>
                <a:cubicBezTo>
                  <a:pt x="10495461" y="5368312"/>
                  <a:pt x="10473830" y="5354868"/>
                  <a:pt x="10445981" y="5364735"/>
                </a:cubicBezTo>
                <a:cubicBezTo>
                  <a:pt x="10436536" y="5368773"/>
                  <a:pt x="10409281" y="5367966"/>
                  <a:pt x="10383865" y="5360888"/>
                </a:cubicBezTo>
                <a:cubicBezTo>
                  <a:pt x="10374827" y="5369095"/>
                  <a:pt x="10347864" y="5360432"/>
                  <a:pt x="10336852" y="5360277"/>
                </a:cubicBezTo>
                <a:cubicBezTo>
                  <a:pt x="10323586" y="5366987"/>
                  <a:pt x="10274741" y="5357921"/>
                  <a:pt x="10261098" y="5350526"/>
                </a:cubicBezTo>
                <a:lnTo>
                  <a:pt x="10126497" y="5339011"/>
                </a:lnTo>
                <a:lnTo>
                  <a:pt x="10082166" y="5336916"/>
                </a:lnTo>
                <a:cubicBezTo>
                  <a:pt x="10074567" y="5338985"/>
                  <a:pt x="10046860" y="5337657"/>
                  <a:pt x="10039237" y="5338580"/>
                </a:cubicBezTo>
                <a:cubicBezTo>
                  <a:pt x="9998458" y="5328479"/>
                  <a:pt x="9984394" y="5327989"/>
                  <a:pt x="9960016" y="5323065"/>
                </a:cubicBezTo>
                <a:cubicBezTo>
                  <a:pt x="9918980" y="5322923"/>
                  <a:pt x="9888741" y="5326122"/>
                  <a:pt x="9847789" y="5316297"/>
                </a:cubicBezTo>
                <a:lnTo>
                  <a:pt x="9728306" y="5296090"/>
                </a:lnTo>
                <a:cubicBezTo>
                  <a:pt x="9675056" y="5305676"/>
                  <a:pt x="9602035" y="5297282"/>
                  <a:pt x="9584504" y="5284670"/>
                </a:cubicBezTo>
                <a:cubicBezTo>
                  <a:pt x="9518952" y="5270394"/>
                  <a:pt x="9415429" y="5244268"/>
                  <a:pt x="9343049" y="5238968"/>
                </a:cubicBezTo>
                <a:lnTo>
                  <a:pt x="9231367" y="5187063"/>
                </a:lnTo>
                <a:lnTo>
                  <a:pt x="9194807" y="5176984"/>
                </a:lnTo>
                <a:lnTo>
                  <a:pt x="9189243" y="5167745"/>
                </a:lnTo>
                <a:lnTo>
                  <a:pt x="9151229" y="5156543"/>
                </a:lnTo>
                <a:lnTo>
                  <a:pt x="9150207" y="5157608"/>
                </a:lnTo>
                <a:cubicBezTo>
                  <a:pt x="9147045" y="5159739"/>
                  <a:pt x="9143081" y="5160831"/>
                  <a:pt x="9137315" y="5159777"/>
                </a:cubicBezTo>
                <a:cubicBezTo>
                  <a:pt x="9138862" y="5179261"/>
                  <a:pt x="9130952" y="5165972"/>
                  <a:pt x="9113809" y="5161143"/>
                </a:cubicBezTo>
                <a:cubicBezTo>
                  <a:pt x="9112388" y="5190326"/>
                  <a:pt x="9068114" y="5155892"/>
                  <a:pt x="9053450" y="5169457"/>
                </a:cubicBezTo>
                <a:lnTo>
                  <a:pt x="9005483" y="5166172"/>
                </a:lnTo>
                <a:lnTo>
                  <a:pt x="9005198" y="5166412"/>
                </a:lnTo>
                <a:cubicBezTo>
                  <a:pt x="9003143" y="5166632"/>
                  <a:pt x="9000324" y="5166304"/>
                  <a:pt x="8996229" y="5165201"/>
                </a:cubicBezTo>
                <a:lnTo>
                  <a:pt x="8990391" y="5163140"/>
                </a:lnTo>
                <a:lnTo>
                  <a:pt x="8974334" y="5159914"/>
                </a:lnTo>
                <a:lnTo>
                  <a:pt x="8968008" y="5160614"/>
                </a:lnTo>
                <a:lnTo>
                  <a:pt x="8963045" y="5162839"/>
                </a:lnTo>
                <a:cubicBezTo>
                  <a:pt x="8954690" y="5154888"/>
                  <a:pt x="8955517" y="5145940"/>
                  <a:pt x="8928985" y="5166027"/>
                </a:cubicBezTo>
                <a:cubicBezTo>
                  <a:pt x="8898031" y="5165007"/>
                  <a:pt x="8789300" y="5150352"/>
                  <a:pt x="8752441" y="5146795"/>
                </a:cubicBezTo>
                <a:cubicBezTo>
                  <a:pt x="8719819" y="5136075"/>
                  <a:pt x="8748194" y="5149736"/>
                  <a:pt x="8707844" y="5144694"/>
                </a:cubicBezTo>
                <a:cubicBezTo>
                  <a:pt x="8671606" y="5125159"/>
                  <a:pt x="8639142" y="5141599"/>
                  <a:pt x="8596068" y="5136122"/>
                </a:cubicBezTo>
                <a:lnTo>
                  <a:pt x="8525227" y="5150964"/>
                </a:lnTo>
                <a:lnTo>
                  <a:pt x="8510980" y="5145049"/>
                </a:lnTo>
                <a:lnTo>
                  <a:pt x="8506164" y="5142048"/>
                </a:lnTo>
                <a:cubicBezTo>
                  <a:pt x="8502646" y="5140271"/>
                  <a:pt x="8500045" y="5139460"/>
                  <a:pt x="8497965" y="5139310"/>
                </a:cubicBezTo>
                <a:lnTo>
                  <a:pt x="8497591" y="5139489"/>
                </a:lnTo>
                <a:lnTo>
                  <a:pt x="8490246" y="5136439"/>
                </a:lnTo>
                <a:lnTo>
                  <a:pt x="8367179" y="5122397"/>
                </a:lnTo>
                <a:cubicBezTo>
                  <a:pt x="8362021" y="5120372"/>
                  <a:pt x="8357730" y="5120720"/>
                  <a:pt x="8353796" y="5122203"/>
                </a:cubicBezTo>
                <a:lnTo>
                  <a:pt x="8352369" y="5123043"/>
                </a:lnTo>
                <a:lnTo>
                  <a:pt x="8320101" y="5105625"/>
                </a:lnTo>
                <a:lnTo>
                  <a:pt x="8314429" y="5105299"/>
                </a:lnTo>
                <a:lnTo>
                  <a:pt x="8295170" y="5091404"/>
                </a:lnTo>
                <a:lnTo>
                  <a:pt x="8284273" y="5085581"/>
                </a:lnTo>
                <a:lnTo>
                  <a:pt x="8283146" y="5081138"/>
                </a:lnTo>
                <a:cubicBezTo>
                  <a:pt x="8280842" y="5077893"/>
                  <a:pt x="8276148" y="5075245"/>
                  <a:pt x="8266072" y="5073963"/>
                </a:cubicBezTo>
                <a:lnTo>
                  <a:pt x="8263373" y="5074193"/>
                </a:lnTo>
                <a:lnTo>
                  <a:pt x="8252030" y="5064350"/>
                </a:lnTo>
                <a:cubicBezTo>
                  <a:pt x="8248856" y="5060500"/>
                  <a:pt x="8246644" y="5056218"/>
                  <a:pt x="8245831" y="5051358"/>
                </a:cubicBezTo>
                <a:cubicBezTo>
                  <a:pt x="8181824" y="5054265"/>
                  <a:pt x="8147127" y="5020143"/>
                  <a:pt x="8090268" y="5005197"/>
                </a:cubicBezTo>
                <a:cubicBezTo>
                  <a:pt x="8025464" y="4982055"/>
                  <a:pt x="7967067" y="4960819"/>
                  <a:pt x="7905404" y="4963224"/>
                </a:cubicBezTo>
                <a:cubicBezTo>
                  <a:pt x="7835116" y="4948312"/>
                  <a:pt x="7780962" y="4946081"/>
                  <a:pt x="7718741" y="4937509"/>
                </a:cubicBezTo>
                <a:lnTo>
                  <a:pt x="7614343" y="4940980"/>
                </a:lnTo>
                <a:lnTo>
                  <a:pt x="7527539" y="4935152"/>
                </a:lnTo>
                <a:lnTo>
                  <a:pt x="7519567" y="4932599"/>
                </a:lnTo>
                <a:cubicBezTo>
                  <a:pt x="7513989" y="4931260"/>
                  <a:pt x="7510169" y="4930910"/>
                  <a:pt x="7507408" y="4931264"/>
                </a:cubicBezTo>
                <a:lnTo>
                  <a:pt x="7507036" y="4931591"/>
                </a:lnTo>
                <a:lnTo>
                  <a:pt x="7495791" y="4929639"/>
                </a:lnTo>
                <a:cubicBezTo>
                  <a:pt x="7476982" y="4925521"/>
                  <a:pt x="7422524" y="4942937"/>
                  <a:pt x="7405387" y="4937744"/>
                </a:cubicBezTo>
                <a:cubicBezTo>
                  <a:pt x="7374785" y="4940694"/>
                  <a:pt x="7333986" y="4941799"/>
                  <a:pt x="7312176" y="4947339"/>
                </a:cubicBezTo>
                <a:lnTo>
                  <a:pt x="7310849" y="4948781"/>
                </a:lnTo>
                <a:lnTo>
                  <a:pt x="7218556" y="4923532"/>
                </a:lnTo>
                <a:lnTo>
                  <a:pt x="7201098" y="4918982"/>
                </a:lnTo>
                <a:lnTo>
                  <a:pt x="7197000" y="4913624"/>
                </a:lnTo>
                <a:cubicBezTo>
                  <a:pt x="7192108" y="4910101"/>
                  <a:pt x="7184502" y="4907962"/>
                  <a:pt x="7170804" y="4908976"/>
                </a:cubicBezTo>
                <a:lnTo>
                  <a:pt x="7096984" y="4896748"/>
                </a:lnTo>
                <a:cubicBezTo>
                  <a:pt x="7061144" y="4895770"/>
                  <a:pt x="7050185" y="4894793"/>
                  <a:pt x="7018492" y="4897122"/>
                </a:cubicBezTo>
                <a:cubicBezTo>
                  <a:pt x="6937524" y="4886184"/>
                  <a:pt x="6943641" y="4862018"/>
                  <a:pt x="6904142" y="4867616"/>
                </a:cubicBezTo>
                <a:cubicBezTo>
                  <a:pt x="6871918" y="4872824"/>
                  <a:pt x="6787985" y="4853750"/>
                  <a:pt x="6708218" y="4839661"/>
                </a:cubicBezTo>
                <a:cubicBezTo>
                  <a:pt x="6649102" y="4830206"/>
                  <a:pt x="6628102" y="4816105"/>
                  <a:pt x="6549451" y="4810885"/>
                </a:cubicBezTo>
                <a:cubicBezTo>
                  <a:pt x="6472150" y="4766795"/>
                  <a:pt x="6409692" y="4790518"/>
                  <a:pt x="6317556" y="4764085"/>
                </a:cubicBezTo>
                <a:cubicBezTo>
                  <a:pt x="6297547" y="4748563"/>
                  <a:pt x="6209288" y="4765756"/>
                  <a:pt x="6168670" y="4761998"/>
                </a:cubicBezTo>
                <a:cubicBezTo>
                  <a:pt x="6128052" y="4758240"/>
                  <a:pt x="6090536" y="4744692"/>
                  <a:pt x="6073844" y="4741536"/>
                </a:cubicBezTo>
                <a:lnTo>
                  <a:pt x="6068526" y="4743073"/>
                </a:lnTo>
                <a:lnTo>
                  <a:pt x="6048634" y="4742390"/>
                </a:lnTo>
                <a:lnTo>
                  <a:pt x="6041279" y="4750739"/>
                </a:lnTo>
                <a:lnTo>
                  <a:pt x="6010088" y="4755832"/>
                </a:lnTo>
                <a:cubicBezTo>
                  <a:pt x="5998677" y="4756419"/>
                  <a:pt x="5970124" y="4755506"/>
                  <a:pt x="5957373" y="4752188"/>
                </a:cubicBezTo>
                <a:lnTo>
                  <a:pt x="5758915" y="4736496"/>
                </a:lnTo>
                <a:lnTo>
                  <a:pt x="5626957" y="4735473"/>
                </a:lnTo>
                <a:lnTo>
                  <a:pt x="5470902" y="4749493"/>
                </a:lnTo>
                <a:cubicBezTo>
                  <a:pt x="5478131" y="4762521"/>
                  <a:pt x="5439006" y="4748455"/>
                  <a:pt x="5432757" y="4760746"/>
                </a:cubicBezTo>
                <a:cubicBezTo>
                  <a:pt x="5429365" y="4770778"/>
                  <a:pt x="5391824" y="4775462"/>
                  <a:pt x="5381664" y="4778448"/>
                </a:cubicBezTo>
                <a:lnTo>
                  <a:pt x="5261760" y="4798865"/>
                </a:lnTo>
                <a:cubicBezTo>
                  <a:pt x="5251595" y="4799049"/>
                  <a:pt x="5230547" y="4807359"/>
                  <a:pt x="5222959" y="4809989"/>
                </a:cubicBezTo>
                <a:lnTo>
                  <a:pt x="5174657" y="4812979"/>
                </a:lnTo>
                <a:lnTo>
                  <a:pt x="5156551" y="4820202"/>
                </a:lnTo>
                <a:lnTo>
                  <a:pt x="5142595" y="4823602"/>
                </a:lnTo>
                <a:lnTo>
                  <a:pt x="5139593" y="4825703"/>
                </a:lnTo>
                <a:cubicBezTo>
                  <a:pt x="5133873" y="4829743"/>
                  <a:pt x="5128076" y="4833554"/>
                  <a:pt x="5121656" y="4836556"/>
                </a:cubicBezTo>
                <a:cubicBezTo>
                  <a:pt x="5108317" y="4807937"/>
                  <a:pt x="5064853" y="4857373"/>
                  <a:pt x="5065787" y="4829985"/>
                </a:cubicBezTo>
                <a:cubicBezTo>
                  <a:pt x="5028193" y="4841501"/>
                  <a:pt x="5038944" y="4812412"/>
                  <a:pt x="5011510" y="4846366"/>
                </a:cubicBezTo>
                <a:cubicBezTo>
                  <a:pt x="4937023" y="4845983"/>
                  <a:pt x="4916353" y="4832976"/>
                  <a:pt x="4840437" y="4870383"/>
                </a:cubicBezTo>
                <a:cubicBezTo>
                  <a:pt x="4806739" y="4887025"/>
                  <a:pt x="4784106" y="4898171"/>
                  <a:pt x="4762444" y="4898151"/>
                </a:cubicBezTo>
                <a:cubicBezTo>
                  <a:pt x="4741323" y="4902652"/>
                  <a:pt x="4729481" y="4905474"/>
                  <a:pt x="4723182" y="4907166"/>
                </a:cubicBezTo>
                <a:lnTo>
                  <a:pt x="4721173" y="4907914"/>
                </a:lnTo>
                <a:lnTo>
                  <a:pt x="4715524" y="4906639"/>
                </a:lnTo>
                <a:cubicBezTo>
                  <a:pt x="4680148" y="4913595"/>
                  <a:pt x="4524744" y="4914403"/>
                  <a:pt x="4515810" y="4916541"/>
                </a:cubicBezTo>
                <a:cubicBezTo>
                  <a:pt x="4457819" y="4929653"/>
                  <a:pt x="4462659" y="4930394"/>
                  <a:pt x="4428539" y="4927192"/>
                </a:cubicBezTo>
                <a:cubicBezTo>
                  <a:pt x="4423303" y="4923821"/>
                  <a:pt x="4368974" y="4930115"/>
                  <a:pt x="4362872" y="4928538"/>
                </a:cubicBezTo>
                <a:lnTo>
                  <a:pt x="4316962" y="4921923"/>
                </a:lnTo>
                <a:lnTo>
                  <a:pt x="4315106" y="4923264"/>
                </a:lnTo>
                <a:cubicBezTo>
                  <a:pt x="4306123" y="4926635"/>
                  <a:pt x="4299993" y="4926634"/>
                  <a:pt x="4295140" y="4925143"/>
                </a:cubicBezTo>
                <a:lnTo>
                  <a:pt x="4290059" y="4922226"/>
                </a:lnTo>
                <a:lnTo>
                  <a:pt x="4276138" y="4922472"/>
                </a:lnTo>
                <a:lnTo>
                  <a:pt x="4248113" y="4920148"/>
                </a:lnTo>
                <a:lnTo>
                  <a:pt x="4202046" y="4922943"/>
                </a:lnTo>
                <a:cubicBezTo>
                  <a:pt x="4201945" y="4923363"/>
                  <a:pt x="4201842" y="4923782"/>
                  <a:pt x="4201741" y="4924202"/>
                </a:cubicBezTo>
                <a:cubicBezTo>
                  <a:pt x="4200116" y="4927039"/>
                  <a:pt x="4197140" y="4929158"/>
                  <a:pt x="4191245" y="4929836"/>
                </a:cubicBezTo>
                <a:cubicBezTo>
                  <a:pt x="4204212" y="4947125"/>
                  <a:pt x="4161274" y="4945230"/>
                  <a:pt x="4142742" y="4945701"/>
                </a:cubicBezTo>
                <a:cubicBezTo>
                  <a:pt x="4124717" y="4952767"/>
                  <a:pt x="4099099" y="4966347"/>
                  <a:pt x="4083094" y="4972234"/>
                </a:cubicBezTo>
                <a:lnTo>
                  <a:pt x="4074543" y="4973069"/>
                </a:lnTo>
                <a:cubicBezTo>
                  <a:pt x="4074504" y="4973170"/>
                  <a:pt x="4074463" y="4973269"/>
                  <a:pt x="4074424" y="4973368"/>
                </a:cubicBezTo>
                <a:cubicBezTo>
                  <a:pt x="4072678" y="4974152"/>
                  <a:pt x="4069906" y="4974653"/>
                  <a:pt x="4065507" y="4974812"/>
                </a:cubicBezTo>
                <a:lnTo>
                  <a:pt x="4058951" y="4974594"/>
                </a:lnTo>
                <a:lnTo>
                  <a:pt x="4042361" y="4976215"/>
                </a:lnTo>
                <a:lnTo>
                  <a:pt x="4036993" y="4978649"/>
                </a:lnTo>
                <a:lnTo>
                  <a:pt x="4035360" y="4982316"/>
                </a:lnTo>
                <a:lnTo>
                  <a:pt x="4033775" y="4982081"/>
                </a:lnTo>
                <a:cubicBezTo>
                  <a:pt x="4021424" y="4977217"/>
                  <a:pt x="4016874" y="4968841"/>
                  <a:pt x="4004535" y="4994649"/>
                </a:cubicBezTo>
                <a:cubicBezTo>
                  <a:pt x="3976667" y="4987584"/>
                  <a:pt x="3972977" y="5002913"/>
                  <a:pt x="3936843" y="5012106"/>
                </a:cubicBezTo>
                <a:cubicBezTo>
                  <a:pt x="3920506" y="5004382"/>
                  <a:pt x="3908535" y="5009071"/>
                  <a:pt x="3897272" y="5017761"/>
                </a:cubicBezTo>
                <a:cubicBezTo>
                  <a:pt x="3861092" y="5017265"/>
                  <a:pt x="3829628" y="5031135"/>
                  <a:pt x="3789757" y="5037999"/>
                </a:cubicBezTo>
                <a:cubicBezTo>
                  <a:pt x="3741007" y="5052705"/>
                  <a:pt x="3725129" y="5054682"/>
                  <a:pt x="3682510" y="5061922"/>
                </a:cubicBezTo>
                <a:lnTo>
                  <a:pt x="3610032" y="5094193"/>
                </a:lnTo>
                <a:lnTo>
                  <a:pt x="3603852" y="5092831"/>
                </a:lnTo>
                <a:cubicBezTo>
                  <a:pt x="3599580" y="5092212"/>
                  <a:pt x="3596726" y="5092212"/>
                  <a:pt x="3594733" y="5092667"/>
                </a:cubicBezTo>
                <a:lnTo>
                  <a:pt x="3594498" y="5092936"/>
                </a:lnTo>
                <a:lnTo>
                  <a:pt x="3585975" y="5092246"/>
                </a:lnTo>
                <a:cubicBezTo>
                  <a:pt x="3571623" y="5090455"/>
                  <a:pt x="3549389" y="5104654"/>
                  <a:pt x="3536132" y="5101945"/>
                </a:cubicBezTo>
                <a:cubicBezTo>
                  <a:pt x="3513940" y="5106241"/>
                  <a:pt x="3488622" y="5099976"/>
                  <a:pt x="3473220" y="5105606"/>
                </a:cubicBezTo>
                <a:lnTo>
                  <a:pt x="3400725" y="5117654"/>
                </a:lnTo>
                <a:lnTo>
                  <a:pt x="3375935" y="5106247"/>
                </a:lnTo>
                <a:lnTo>
                  <a:pt x="3348219" y="5109860"/>
                </a:lnTo>
                <a:cubicBezTo>
                  <a:pt x="3337206" y="5110533"/>
                  <a:pt x="3327054" y="5111295"/>
                  <a:pt x="3319639" y="5114795"/>
                </a:cubicBezTo>
                <a:lnTo>
                  <a:pt x="3248529" y="5133347"/>
                </a:lnTo>
                <a:lnTo>
                  <a:pt x="3210308" y="5119794"/>
                </a:lnTo>
                <a:cubicBezTo>
                  <a:pt x="3206088" y="5117870"/>
                  <a:pt x="3200152" y="5117326"/>
                  <a:pt x="3190375" y="5119915"/>
                </a:cubicBezTo>
                <a:lnTo>
                  <a:pt x="3188145" y="5121096"/>
                </a:lnTo>
                <a:cubicBezTo>
                  <a:pt x="3182625" y="5119116"/>
                  <a:pt x="3141856" y="5121682"/>
                  <a:pt x="3108596" y="5122416"/>
                </a:cubicBezTo>
                <a:cubicBezTo>
                  <a:pt x="3055968" y="5124842"/>
                  <a:pt x="3048940" y="5117475"/>
                  <a:pt x="2988584" y="5125502"/>
                </a:cubicBezTo>
                <a:cubicBezTo>
                  <a:pt x="2928853" y="5129690"/>
                  <a:pt x="2917951" y="5124649"/>
                  <a:pt x="2876540" y="5133019"/>
                </a:cubicBezTo>
                <a:lnTo>
                  <a:pt x="2626864" y="5133771"/>
                </a:lnTo>
                <a:cubicBezTo>
                  <a:pt x="2562348" y="5111858"/>
                  <a:pt x="2563422" y="5142456"/>
                  <a:pt x="2491422" y="5135486"/>
                </a:cubicBezTo>
                <a:cubicBezTo>
                  <a:pt x="2433091" y="5200962"/>
                  <a:pt x="2455709" y="5160483"/>
                  <a:pt x="2415617" y="5168715"/>
                </a:cubicBezTo>
                <a:lnTo>
                  <a:pt x="2290098" y="5166151"/>
                </a:lnTo>
                <a:cubicBezTo>
                  <a:pt x="2257057" y="5152522"/>
                  <a:pt x="2202458" y="5187690"/>
                  <a:pt x="2161714" y="5169302"/>
                </a:cubicBezTo>
                <a:cubicBezTo>
                  <a:pt x="2122714" y="5172302"/>
                  <a:pt x="2080450" y="5180350"/>
                  <a:pt x="2056089" y="5184144"/>
                </a:cubicBezTo>
                <a:cubicBezTo>
                  <a:pt x="2019828" y="5191108"/>
                  <a:pt x="1978839" y="5203797"/>
                  <a:pt x="1944153" y="5211084"/>
                </a:cubicBezTo>
                <a:cubicBezTo>
                  <a:pt x="1925867" y="5199079"/>
                  <a:pt x="1896027" y="5224183"/>
                  <a:pt x="1847968" y="5227868"/>
                </a:cubicBezTo>
                <a:cubicBezTo>
                  <a:pt x="1827977" y="5213971"/>
                  <a:pt x="1815570" y="5230544"/>
                  <a:pt x="1777083" y="5212267"/>
                </a:cubicBezTo>
                <a:cubicBezTo>
                  <a:pt x="1775439" y="5214216"/>
                  <a:pt x="1773397" y="5216035"/>
                  <a:pt x="1771025" y="5217668"/>
                </a:cubicBezTo>
                <a:cubicBezTo>
                  <a:pt x="1757251" y="5227146"/>
                  <a:pt x="1735528" y="5228402"/>
                  <a:pt x="1722509" y="5220470"/>
                </a:cubicBezTo>
                <a:cubicBezTo>
                  <a:pt x="1691779" y="5208440"/>
                  <a:pt x="1662321" y="5203305"/>
                  <a:pt x="1633941" y="5200774"/>
                </a:cubicBezTo>
                <a:lnTo>
                  <a:pt x="1586145" y="5210184"/>
                </a:lnTo>
                <a:cubicBezTo>
                  <a:pt x="1567948" y="5215416"/>
                  <a:pt x="1545900" y="5226363"/>
                  <a:pt x="1524748" y="5232173"/>
                </a:cubicBezTo>
                <a:cubicBezTo>
                  <a:pt x="1502586" y="5235395"/>
                  <a:pt x="1478013" y="5230993"/>
                  <a:pt x="1459242" y="5245044"/>
                </a:cubicBezTo>
                <a:cubicBezTo>
                  <a:pt x="1421474" y="5260197"/>
                  <a:pt x="1374524" y="5244220"/>
                  <a:pt x="1349457" y="5280705"/>
                </a:cubicBezTo>
                <a:cubicBezTo>
                  <a:pt x="1273276" y="5302389"/>
                  <a:pt x="1121512" y="5336260"/>
                  <a:pt x="1009212" y="5361227"/>
                </a:cubicBezTo>
                <a:cubicBezTo>
                  <a:pt x="939016" y="5373529"/>
                  <a:pt x="866895" y="5370149"/>
                  <a:pt x="808572" y="5377024"/>
                </a:cubicBezTo>
                <a:cubicBezTo>
                  <a:pt x="802823" y="5374184"/>
                  <a:pt x="726016" y="5397963"/>
                  <a:pt x="719549" y="5396991"/>
                </a:cubicBezTo>
                <a:lnTo>
                  <a:pt x="698795" y="5397657"/>
                </a:lnTo>
                <a:cubicBezTo>
                  <a:pt x="689833" y="5401894"/>
                  <a:pt x="683492" y="5402495"/>
                  <a:pt x="678327" y="5401487"/>
                </a:cubicBezTo>
                <a:lnTo>
                  <a:pt x="672784" y="5399085"/>
                </a:lnTo>
                <a:lnTo>
                  <a:pt x="658406" y="5400696"/>
                </a:lnTo>
                <a:lnTo>
                  <a:pt x="629185" y="5401132"/>
                </a:lnTo>
                <a:lnTo>
                  <a:pt x="624558" y="5403782"/>
                </a:lnTo>
                <a:lnTo>
                  <a:pt x="581798" y="5408438"/>
                </a:lnTo>
                <a:cubicBezTo>
                  <a:pt x="581736" y="5408865"/>
                  <a:pt x="581671" y="5409294"/>
                  <a:pt x="581608" y="5409722"/>
                </a:cubicBezTo>
                <a:cubicBezTo>
                  <a:pt x="580204" y="5412704"/>
                  <a:pt x="577331" y="5415106"/>
                  <a:pt x="571299" y="5416358"/>
                </a:cubicBezTo>
                <a:cubicBezTo>
                  <a:pt x="551623" y="5426267"/>
                  <a:pt x="484499" y="5459654"/>
                  <a:pt x="463549" y="5469173"/>
                </a:cubicBezTo>
                <a:cubicBezTo>
                  <a:pt x="453136" y="5470720"/>
                  <a:pt x="449731" y="5472678"/>
                  <a:pt x="445606" y="5473465"/>
                </a:cubicBezTo>
                <a:lnTo>
                  <a:pt x="438799" y="5473893"/>
                </a:lnTo>
                <a:cubicBezTo>
                  <a:pt x="417222" y="5482183"/>
                  <a:pt x="343312" y="5513407"/>
                  <a:pt x="316138" y="5523213"/>
                </a:cubicBezTo>
                <a:cubicBezTo>
                  <a:pt x="298481" y="5517132"/>
                  <a:pt x="286556" y="5522972"/>
                  <a:pt x="275748" y="5532726"/>
                </a:cubicBezTo>
                <a:cubicBezTo>
                  <a:pt x="238274" y="5535784"/>
                  <a:pt x="207076" y="5552679"/>
                  <a:pt x="166496" y="5563424"/>
                </a:cubicBezTo>
                <a:lnTo>
                  <a:pt x="0" y="5629888"/>
                </a:lnTo>
                <a:close/>
              </a:path>
            </a:pathLst>
          </a:custGeom>
        </p:spPr>
      </p:pic>
      <p:pic>
        <p:nvPicPr>
          <p:cNvPr id="17" name="Picture 16" descr="A screenshot of a website&#10;&#10;AI-generated content may be incorrect.">
            <a:extLst>
              <a:ext uri="{FF2B5EF4-FFF2-40B4-BE49-F238E27FC236}">
                <a16:creationId xmlns:a16="http://schemas.microsoft.com/office/drawing/2014/main" id="{BD17DA48-9F78-4A29-1BCF-07FCFEFFD41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-283" b="2857"/>
          <a:stretch>
            <a:fillRect/>
          </a:stretch>
        </p:blipFill>
        <p:spPr>
          <a:xfrm>
            <a:off x="3361" y="2025183"/>
            <a:ext cx="3747261" cy="2516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0793601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2D7EA4-2FFC-4AE7-5EE9-B3E90280E9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BE2D070-7F06-B5AF-406F-EAA5058C5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A0FBE61-0665-A549-C1F3-6B54C28DF0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3A1B633-3884-78F7-392F-CE2148B3E5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800" y="685800"/>
            <a:ext cx="10820400" cy="5486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403CA7C-38BF-97BB-4C7F-5584E0C440E5}"/>
              </a:ext>
            </a:extLst>
          </p:cNvPr>
          <p:cNvSpPr txBox="1"/>
          <p:nvPr/>
        </p:nvSpPr>
        <p:spPr>
          <a:xfrm>
            <a:off x="761218" y="685800"/>
            <a:ext cx="6693877" cy="110799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800" b="1" baseline="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Google Ads Snapshot</a:t>
            </a:r>
            <a:r>
              <a:rPr sz="4800" dirty="0">
                <a:latin typeface="Cambria"/>
                <a:ea typeface="Cambria"/>
                <a:cs typeface="Aptos Display"/>
              </a:rPr>
              <a:t>​</a:t>
            </a:r>
            <a:endParaRPr lang="en-US" sz="4800" dirty="0">
              <a:latin typeface="Cambria"/>
              <a:ea typeface="Cambria"/>
            </a:endParaRPr>
          </a:p>
          <a:p>
            <a:pPr algn="ctr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7D4F5AE-5BE9-2592-6196-C5A7D2FD4F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799" y="2399774"/>
            <a:ext cx="6420746" cy="377242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74EF23F-03EC-120F-B529-BCEC422A11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6721" y="685800"/>
            <a:ext cx="4729480" cy="424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74473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BA5C26-3918-E2B4-8996-9766DDBE57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01A9E10-8B3A-E5AE-9EAC-D6ACC6E8FE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CD0C46E-0010-C38F-B1CD-2365E7F4DE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58C41DE-E2FB-5239-8D17-2C4E274B83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800" y="685800"/>
            <a:ext cx="10820400" cy="5486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6D14CFC-38C5-3537-F19A-91BADEF9D7CC}"/>
              </a:ext>
            </a:extLst>
          </p:cNvPr>
          <p:cNvSpPr txBox="1"/>
          <p:nvPr/>
        </p:nvSpPr>
        <p:spPr>
          <a:xfrm>
            <a:off x="685800" y="591234"/>
            <a:ext cx="6693877" cy="110799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800" b="1" baseline="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Google Ads Snapshot</a:t>
            </a:r>
            <a:r>
              <a:rPr sz="4800" dirty="0">
                <a:latin typeface="Cambria"/>
                <a:ea typeface="Cambria"/>
                <a:cs typeface="Aptos Display"/>
              </a:rPr>
              <a:t>​</a:t>
            </a:r>
            <a:endParaRPr lang="en-US" sz="4800" dirty="0">
              <a:latin typeface="Cambria"/>
              <a:ea typeface="Cambria"/>
            </a:endParaRPr>
          </a:p>
          <a:p>
            <a:pPr algn="ctr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8A45019-E1CD-2471-CE6E-807AD36E94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400026"/>
            <a:ext cx="5294419" cy="405794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FFF1351-4D02-ABBF-6C93-2E3C2DE626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2752" y="1400026"/>
            <a:ext cx="5723448" cy="4452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1019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76E8454-9BE4-5F4D-3D5D-E290B689C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66B7B01-41C8-E6BE-EA96-8330A90DD4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3B89CB1-EA25-24EF-DD6D-A3766646DF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8D483B5-94BB-45CC-461D-9B7D9052E1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800" y="685800"/>
            <a:ext cx="10820400" cy="5486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F64885C-7385-E4C2-4ACD-44C206B89ECC}"/>
              </a:ext>
            </a:extLst>
          </p:cNvPr>
          <p:cNvSpPr txBox="1"/>
          <p:nvPr/>
        </p:nvSpPr>
        <p:spPr>
          <a:xfrm>
            <a:off x="685800" y="591234"/>
            <a:ext cx="6693877" cy="110799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800" b="1" baseline="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Google Ads Snapshot</a:t>
            </a:r>
            <a:r>
              <a:rPr sz="4800" dirty="0">
                <a:latin typeface="Cambria"/>
                <a:ea typeface="Cambria"/>
                <a:cs typeface="Aptos Display"/>
              </a:rPr>
              <a:t>​</a:t>
            </a:r>
            <a:endParaRPr lang="en-US" sz="4800" dirty="0">
              <a:latin typeface="Cambria"/>
              <a:ea typeface="Cambria"/>
            </a:endParaRPr>
          </a:p>
          <a:p>
            <a:pPr algn="ctr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E66BDD5-B12E-354D-7F75-3DD6C3FF9C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410095"/>
            <a:ext cx="3611880" cy="403780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0992DBD-741A-FD36-A4C0-AEDDFF327E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2533" y="15851"/>
            <a:ext cx="5089466" cy="26478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8266211-FD93-58F6-E72C-E6567F13A1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17500" y="1699230"/>
            <a:ext cx="4156999" cy="448882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C93725D-329A-9EFA-278F-B87053E0ADF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5897"/>
          <a:stretch>
            <a:fillRect/>
          </a:stretch>
        </p:blipFill>
        <p:spPr>
          <a:xfrm>
            <a:off x="8050869" y="2663748"/>
            <a:ext cx="4141131" cy="3679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41267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953294-999C-2E64-A6C6-A50FA7CDDB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95444D6-3F5F-0C48-54D4-C9B66A6C45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C03D9C7-5245-44EA-D4EC-96397A10C3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5B955ED-38CF-20B7-2943-EC65FA733C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800" y="685800"/>
            <a:ext cx="10820400" cy="5486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72D12C-BCA4-5110-DA29-BB9D01411E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684" y="-39211"/>
            <a:ext cx="4395078" cy="72133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 b="1">
                <a:latin typeface="Times New Roman"/>
                <a:cs typeface="Times New Roman"/>
              </a:rPr>
              <a:t>Meta Ads</a:t>
            </a:r>
            <a:r>
              <a:rPr lang="en-US" sz="3600" b="1" dirty="0">
                <a:latin typeface="Times New Roman"/>
                <a:cs typeface="Times New Roman"/>
              </a:rPr>
              <a:t> Snapshot</a:t>
            </a:r>
          </a:p>
        </p:txBody>
      </p:sp>
      <p:pic>
        <p:nvPicPr>
          <p:cNvPr id="3" name="Picture 2" descr="A screenshot of a website&#10;&#10;AI-generated content may be incorrect.">
            <a:extLst>
              <a:ext uri="{FF2B5EF4-FFF2-40B4-BE49-F238E27FC236}">
                <a16:creationId xmlns:a16="http://schemas.microsoft.com/office/drawing/2014/main" id="{0E3996C3-DAD9-66FC-B71D-D69F2DB638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384" y="688284"/>
            <a:ext cx="5579580" cy="4320596"/>
          </a:xfrm>
          <a:prstGeom prst="rect">
            <a:avLst/>
          </a:prstGeom>
        </p:spPr>
      </p:pic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5EC34BE-0DF9-0D5C-AAE1-C5AAF4B705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0998" y="2845973"/>
            <a:ext cx="6040784" cy="3330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50739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858DEF-24ED-87BD-8D1B-B292B7C873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9A575EE-F771-0D2A-CD4D-16CB2A1300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692BB69-3241-4656-BFEC-398CB2B33E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06581D0-67D7-0D33-313F-617E8E0D26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800" y="685800"/>
            <a:ext cx="10820400" cy="5486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7EC32C-0745-909C-8569-FCABBABC77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684" y="-39211"/>
            <a:ext cx="4395078" cy="72133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 b="1">
                <a:latin typeface="Times New Roman"/>
                <a:cs typeface="Times New Roman"/>
              </a:rPr>
              <a:t>Meta Ads</a:t>
            </a:r>
            <a:r>
              <a:rPr lang="en-US" sz="3600" b="1" dirty="0">
                <a:latin typeface="Times New Roman"/>
                <a:cs typeface="Times New Roman"/>
              </a:rPr>
              <a:t> Snapshot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90D5FB9-EB29-E0AB-8CBA-0E51E65564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684" y="682122"/>
            <a:ext cx="5371564" cy="461123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8833869-AEE2-313A-9A3D-B297486F66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1360" y="2614847"/>
            <a:ext cx="5915110" cy="3661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60179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25E6111-1437-96E2-1982-3C09265BA4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EFB1B61-9920-81CF-4920-2F014B4B8E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DB6A6C6-EE5E-F445-2162-8548B91F26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49ECCC4-4B70-163F-B7CD-583185A897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800" y="685800"/>
            <a:ext cx="10820400" cy="5486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6B8CC8-595F-92E6-DBC6-EBD9981CE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684" y="-5594"/>
            <a:ext cx="7599960" cy="68771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 b="1" dirty="0">
                <a:latin typeface="Times New Roman"/>
                <a:cs typeface="Times New Roman"/>
              </a:rPr>
              <a:t>Instagram </a:t>
            </a:r>
            <a:r>
              <a:rPr lang="en-US" sz="3600" b="1">
                <a:latin typeface="Times New Roman"/>
                <a:cs typeface="Times New Roman"/>
              </a:rPr>
              <a:t>Dashboard Snapshot</a:t>
            </a:r>
            <a:endParaRPr lang="en-US" sz="3600" b="1" dirty="0">
              <a:latin typeface="Times New Roman"/>
              <a:cs typeface="Times New Roman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A611F26-ECCE-773A-B4A9-2C753697D72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446" b="2073"/>
          <a:stretch>
            <a:fillRect/>
          </a:stretch>
        </p:blipFill>
        <p:spPr>
          <a:xfrm>
            <a:off x="4844506" y="748160"/>
            <a:ext cx="2586014" cy="5486400"/>
          </a:xfrm>
          <a:prstGeom prst="rect">
            <a:avLst/>
          </a:prstGeom>
        </p:spPr>
      </p:pic>
      <p:pic>
        <p:nvPicPr>
          <p:cNvPr id="7" name="Picture 6">
            <a:hlinkClick r:id="rId3"/>
            <a:extLst>
              <a:ext uri="{FF2B5EF4-FFF2-40B4-BE49-F238E27FC236}">
                <a16:creationId xmlns:a16="http://schemas.microsoft.com/office/drawing/2014/main" id="{E4581F1C-27AB-27E5-8B90-D7D4CBAE39B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311" y="748160"/>
            <a:ext cx="2282701" cy="3048000"/>
          </a:xfrm>
          <a:prstGeom prst="rect">
            <a:avLst/>
          </a:prstGeom>
        </p:spPr>
      </p:pic>
      <p:pic>
        <p:nvPicPr>
          <p:cNvPr id="11" name="Picture 10">
            <a:hlinkClick r:id="rId5"/>
            <a:extLst>
              <a:ext uri="{FF2B5EF4-FFF2-40B4-BE49-F238E27FC236}">
                <a16:creationId xmlns:a16="http://schemas.microsoft.com/office/drawing/2014/main" id="{977EE490-63ED-9AA2-97C3-4DD8CBE51AB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6045" y="3022917"/>
            <a:ext cx="2343337" cy="3149283"/>
          </a:xfrm>
          <a:prstGeom prst="rect">
            <a:avLst/>
          </a:prstGeom>
        </p:spPr>
      </p:pic>
      <p:pic>
        <p:nvPicPr>
          <p:cNvPr id="14" name="Picture 13">
            <a:hlinkClick r:id="rId7"/>
            <a:extLst>
              <a:ext uri="{FF2B5EF4-FFF2-40B4-BE49-F238E27FC236}">
                <a16:creationId xmlns:a16="http://schemas.microsoft.com/office/drawing/2014/main" id="{8F2BE2C8-C718-6B3D-76F4-01BA2F2E870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8981" y="3124200"/>
            <a:ext cx="2306052" cy="3048000"/>
          </a:xfrm>
          <a:prstGeom prst="rect">
            <a:avLst/>
          </a:prstGeom>
        </p:spPr>
      </p:pic>
      <p:pic>
        <p:nvPicPr>
          <p:cNvPr id="16" name="Picture 15">
            <a:hlinkClick r:id="rId9"/>
            <a:extLst>
              <a:ext uri="{FF2B5EF4-FFF2-40B4-BE49-F238E27FC236}">
                <a16:creationId xmlns:a16="http://schemas.microsoft.com/office/drawing/2014/main" id="{89037C7D-51F2-2E0E-FB05-872711D6E44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0520" y="744482"/>
            <a:ext cx="2282701" cy="3058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85733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AEADDB-9932-9398-2FF2-B902775CC1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438EC0A-9209-7532-B5B1-A7C909EE1D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AF68E1-19F0-44F4-9A0C-FCA92CF297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E933DC4-79F9-E676-A2C9-89A05884A4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800" y="685800"/>
            <a:ext cx="10820400" cy="5486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C6E9D0-2166-967A-5740-FF13EF0B6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684" y="-5594"/>
            <a:ext cx="7599960" cy="68771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 b="1">
                <a:latin typeface="Times New Roman"/>
                <a:cs typeface="Times New Roman"/>
              </a:rPr>
              <a:t>Workflow 1 (Made by MIRO)</a:t>
            </a:r>
            <a:endParaRPr lang="en-US" sz="3600" b="1" dirty="0">
              <a:latin typeface="Times New Roman"/>
              <a:cs typeface="Times New Roman"/>
            </a:endParaRPr>
          </a:p>
        </p:txBody>
      </p:sp>
      <p:pic>
        <p:nvPicPr>
          <p:cNvPr id="4" name="Picture 3" descr="A diagram of a flowchart&#10;&#10;AI-generated content may be incorrect.">
            <a:hlinkClick r:id="rId2"/>
            <a:extLst>
              <a:ext uri="{FF2B5EF4-FFF2-40B4-BE49-F238E27FC236}">
                <a16:creationId xmlns:a16="http://schemas.microsoft.com/office/drawing/2014/main" id="{4E89EF8D-ED17-74F9-ACE1-55EFF22DEB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7373" y="753438"/>
            <a:ext cx="7588894" cy="5342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73440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63E913-F195-5C7E-DD65-5E6A8E4153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E621B3A-564A-1FC0-2B2E-1FCAC10EAF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EFA7AE-612A-17BB-B3EF-4392CF9A18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7EC9F59-A0BD-6F75-1222-D34535F602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800" y="685800"/>
            <a:ext cx="10820400" cy="5486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2A9A68-94F5-5D52-545E-1E97B3E347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684" y="-5594"/>
            <a:ext cx="7599960" cy="68771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 b="1" dirty="0">
                <a:latin typeface="Times New Roman"/>
                <a:cs typeface="Times New Roman"/>
              </a:rPr>
              <a:t>Workflow 2 (Made by MIRO)</a:t>
            </a:r>
          </a:p>
        </p:txBody>
      </p:sp>
      <p:pic>
        <p:nvPicPr>
          <p:cNvPr id="3" name="Picture 2" descr="A diagram of a work flow&#10;&#10;AI-generated content may be incorrect.">
            <a:hlinkClick r:id="rId2"/>
            <a:extLst>
              <a:ext uri="{FF2B5EF4-FFF2-40B4-BE49-F238E27FC236}">
                <a16:creationId xmlns:a16="http://schemas.microsoft.com/office/drawing/2014/main" id="{6D5CAF29-FE54-1646-9734-A22F781697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5045" y="682122"/>
            <a:ext cx="3803073" cy="5480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20297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E3D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2B297EA-49EE-DD53-941C-2E1612A1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C47A39-665B-FDD1-4650-1A0E5E90D4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890" y="2489200"/>
            <a:ext cx="5632349" cy="725627"/>
          </a:xfrm>
        </p:spPr>
        <p:txBody>
          <a:bodyPr>
            <a:noAutofit/>
          </a:bodyPr>
          <a:lstStyle/>
          <a:p>
            <a:r>
              <a:rPr lang="en-US" b="1" dirty="0">
                <a:latin typeface="Times New Roman" panose="02020603050405020304" pitchFamily="18" charset="0"/>
                <a:ea typeface="+mj-lt"/>
                <a:cs typeface="Times New Roman" panose="02020603050405020304" pitchFamily="18" charset="0"/>
              </a:rPr>
              <a:t>EMAIL 1: WELCOME EMAIL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hlinkClick r:id="rId2"/>
            <a:extLst>
              <a:ext uri="{FF2B5EF4-FFF2-40B4-BE49-F238E27FC236}">
                <a16:creationId xmlns:a16="http://schemas.microsoft.com/office/drawing/2014/main" id="{D99BE5A8-62EF-FB61-966F-A5A148CB63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4210" y="0"/>
            <a:ext cx="45590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48427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E3D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0E4C6E-0EAD-88FA-2B75-A0079862E8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D55BE1-D63A-CA67-6FC6-3D866B6794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720" y="2498864"/>
            <a:ext cx="6456680" cy="1325563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EMAIL 2: BESTSELLERS EMAIL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hlinkClick r:id="rId2"/>
            <a:extLst>
              <a:ext uri="{FF2B5EF4-FFF2-40B4-BE49-F238E27FC236}">
                <a16:creationId xmlns:a16="http://schemas.microsoft.com/office/drawing/2014/main" id="{CB28DA6E-ADBA-AB4B-C328-EB6FF0070D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5205" y="0"/>
            <a:ext cx="487279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219176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E3D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E0DE57-25BA-D9C6-C579-5E1C822EF0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BB8133-3027-FFDB-0C0A-77FA387ACC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" y="2367597"/>
            <a:ext cx="4282440" cy="1325563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EMAIL 3: OFFER EMAIL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hlinkClick r:id="rId2"/>
            <a:extLst>
              <a:ext uri="{FF2B5EF4-FFF2-40B4-BE49-F238E27FC236}">
                <a16:creationId xmlns:a16="http://schemas.microsoft.com/office/drawing/2014/main" id="{66109CA2-41A2-CB3F-A87A-1B5CE9B269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8040" y="0"/>
            <a:ext cx="45747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23969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A78C65-2416-9D35-97C7-C7EE59FC73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3312" y="2491898"/>
            <a:ext cx="3805375" cy="1325563"/>
          </a:xfrm>
          <a:solidFill>
            <a:schemeClr val="accent2">
              <a:lumMod val="40000"/>
              <a:lumOff val="60000"/>
            </a:schemeClr>
          </a:solidFill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5029494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322</TotalTime>
  <Words>744</Words>
  <Application>Microsoft Office PowerPoint</Application>
  <PresentationFormat>Widescreen</PresentationFormat>
  <Paragraphs>75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Aptos</vt:lpstr>
      <vt:lpstr>Aptos Display</vt:lpstr>
      <vt:lpstr>Arial</vt:lpstr>
      <vt:lpstr>Cambria</vt:lpstr>
      <vt:lpstr>Times New Roman</vt:lpstr>
      <vt:lpstr>office theme</vt:lpstr>
      <vt:lpstr>NYMPHORA</vt:lpstr>
      <vt:lpstr>INTRO TO BRAND &amp;  PRODUCT </vt:lpstr>
      <vt:lpstr>Product Categories</vt:lpstr>
      <vt:lpstr>PERSONA 1</vt:lpstr>
      <vt:lpstr>PERSONA 2</vt:lpstr>
      <vt:lpstr>COMPETITOR ANALYSIS &amp; DIGITAL INSIGHTS </vt:lpstr>
      <vt:lpstr>APIFY SCREENSHOT</vt:lpstr>
      <vt:lpstr>THE MARKETING FUNNEL</vt:lpstr>
      <vt:lpstr>POEM Framework</vt:lpstr>
      <vt:lpstr>PowerPoint Presentation</vt:lpstr>
      <vt:lpstr>SEO Blog Strategy</vt:lpstr>
      <vt:lpstr>Our Website</vt:lpstr>
      <vt:lpstr>PowerPoint Presentation</vt:lpstr>
      <vt:lpstr>PowerPoint Presentation</vt:lpstr>
      <vt:lpstr>PowerPoint Presentation</vt:lpstr>
      <vt:lpstr>Meta Ads Snapshot</vt:lpstr>
      <vt:lpstr>Meta Ads Snapshot</vt:lpstr>
      <vt:lpstr>Instagram Dashboard Snapshot</vt:lpstr>
      <vt:lpstr>Workflow 1 (Made by MIRO)</vt:lpstr>
      <vt:lpstr>Workflow 2 (Made by MIRO)</vt:lpstr>
      <vt:lpstr>EMAIL 1: WELCOME EMAIL</vt:lpstr>
      <vt:lpstr>EMAIL 2: BESTSELLERS EMAIL</vt:lpstr>
      <vt:lpstr>EMAIL 3: OFFER EMAIL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kritika choubey</dc:creator>
  <cp:lastModifiedBy>kritika choubey</cp:lastModifiedBy>
  <cp:revision>932</cp:revision>
  <dcterms:created xsi:type="dcterms:W3CDTF">2026-02-03T14:14:04Z</dcterms:created>
  <dcterms:modified xsi:type="dcterms:W3CDTF">2026-04-02T19:44:35Z</dcterms:modified>
</cp:coreProperties>
</file>